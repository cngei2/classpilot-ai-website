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9a736379cd4c02" /><Relationship Type="http://schemas.openxmlformats.org/officeDocument/2006/relationships/extended-properties" Target="/docProps/app.xml" Id="R250801438f3a41a8" /><Relationship Type="http://schemas.openxmlformats.org/officeDocument/2006/relationships/officeDocument" Target="/ppt/presentation.xml" Id="R21b23b9a07b742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ba25dc900c48d2"/>
  </p:sldMasterIdLst>
  <p:notesMasterIdLst>
    <p:notesMasterId xmlns:r="http://schemas.openxmlformats.org/officeDocument/2006/relationships" r:id="Rf5bea1f3331745a1"/>
  </p:notesMasterIdLst>
  <p:sldIdLst>
    <p:sldId xmlns:r="http://schemas.openxmlformats.org/officeDocument/2006/relationships" id="256" r:id="Rc0d73fd047734cd6"/>
    <p:sldId xmlns:r="http://schemas.openxmlformats.org/officeDocument/2006/relationships" id="257" r:id="R0c09c5d59c8c4b6c"/>
    <p:sldId xmlns:r="http://schemas.openxmlformats.org/officeDocument/2006/relationships" id="258" r:id="R800e55b8bc644bb9"/>
    <p:sldId xmlns:r="http://schemas.openxmlformats.org/officeDocument/2006/relationships" id="259" r:id="Rd67132c2ebdb4dd4"/>
    <p:sldId xmlns:r="http://schemas.openxmlformats.org/officeDocument/2006/relationships" id="260" r:id="Rbf7e1ad497fe4ce6"/>
    <p:sldId xmlns:r="http://schemas.openxmlformats.org/officeDocument/2006/relationships" id="261" r:id="R448f7d096f16475b"/>
    <p:sldId xmlns:r="http://schemas.openxmlformats.org/officeDocument/2006/relationships" id="262" r:id="R7f3551a379a14393"/>
    <p:sldId xmlns:r="http://schemas.openxmlformats.org/officeDocument/2006/relationships" id="263" r:id="R535bbd9bfce643c5"/>
    <p:sldId xmlns:r="http://schemas.openxmlformats.org/officeDocument/2006/relationships" id="264" r:id="Rb415f9de078543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cd36e060a646a5" /><Relationship Type="http://schemas.openxmlformats.org/officeDocument/2006/relationships/slideMaster" Target="/ppt/slideMasters/slideMaster1.xml" Id="R6bba25dc900c48d2" /><Relationship Type="http://schemas.openxmlformats.org/officeDocument/2006/relationships/notesMaster" Target="/ppt/notesMasters/notesMaster1.xml" Id="Rf5bea1f3331745a1" /><Relationship Type="http://schemas.openxmlformats.org/officeDocument/2006/relationships/presProps" Target="/ppt/presProps.xml" Id="Rb318e60092f94604" /><Relationship Type="http://schemas.openxmlformats.org/officeDocument/2006/relationships/tableStyles" Target="/ppt/tableStyles.xml" Id="Ra32195352c444cb4" /><Relationship Type="http://schemas.openxmlformats.org/officeDocument/2006/relationships/slide" Target="/ppt/slides/slide1.xml" Id="Rc0d73fd047734cd6" /><Relationship Type="http://schemas.openxmlformats.org/officeDocument/2006/relationships/slide" Target="/ppt/slides/slide2.xml" Id="R0c09c5d59c8c4b6c" /><Relationship Type="http://schemas.openxmlformats.org/officeDocument/2006/relationships/slide" Target="/ppt/slides/slide3.xml" Id="R800e55b8bc644bb9" /><Relationship Type="http://schemas.openxmlformats.org/officeDocument/2006/relationships/slide" Target="/ppt/slides/slide4.xml" Id="Rd67132c2ebdb4dd4" /><Relationship Type="http://schemas.openxmlformats.org/officeDocument/2006/relationships/slide" Target="/ppt/slides/slide5.xml" Id="Rbf7e1ad497fe4ce6" /><Relationship Type="http://schemas.openxmlformats.org/officeDocument/2006/relationships/slide" Target="/ppt/slides/slide6.xml" Id="R448f7d096f16475b" /><Relationship Type="http://schemas.openxmlformats.org/officeDocument/2006/relationships/slide" Target="/ppt/slides/slide7.xml" Id="R7f3551a379a14393" /><Relationship Type="http://schemas.openxmlformats.org/officeDocument/2006/relationships/slide" Target="/ppt/slides/slide8.xml" Id="R535bbd9bfce643c5" /><Relationship Type="http://schemas.openxmlformats.org/officeDocument/2006/relationships/slide" Target="/ppt/slides/slide9.xml" Id="Rb415f9de078543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8b6498bcba43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e095cffee548d0" /><Relationship Type="http://schemas.openxmlformats.org/officeDocument/2006/relationships/notesMaster" Target="/ppt/notesMasters/notesMaster1.xml" Id="Rd9c773ef98ee4d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a315e09d4e4253" /><Relationship Type="http://schemas.openxmlformats.org/officeDocument/2006/relationships/notesMaster" Target="/ppt/notesMasters/notesMaster1.xml" Id="R26d015905f984b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93a1e31b744ecb" /><Relationship Type="http://schemas.openxmlformats.org/officeDocument/2006/relationships/notesMaster" Target="/ppt/notesMasters/notesMaster1.xml" Id="R6f385049198f45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6ed907937947ba" /><Relationship Type="http://schemas.openxmlformats.org/officeDocument/2006/relationships/notesMaster" Target="/ppt/notesMasters/notesMaster1.xml" Id="R82e315eaaf1a4f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f34b16954c418c" /><Relationship Type="http://schemas.openxmlformats.org/officeDocument/2006/relationships/notesMaster" Target="/ppt/notesMasters/notesMaster1.xml" Id="R0447dd9af04648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089b3f7d87400d" /><Relationship Type="http://schemas.openxmlformats.org/officeDocument/2006/relationships/notesMaster" Target="/ppt/notesMasters/notesMaster1.xml" Id="R0ede899ecfca4e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fc6949bbf843c1" /><Relationship Type="http://schemas.openxmlformats.org/officeDocument/2006/relationships/notesMaster" Target="/ppt/notesMasters/notesMaster1.xml" Id="R0ad3abb3964847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469ca08a734c2a" /><Relationship Type="http://schemas.openxmlformats.org/officeDocument/2006/relationships/notesMaster" Target="/ppt/notesMasters/notesMaster1.xml" Id="R0ac40443102a40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d1257281a1a45df" /><Relationship Type="http://schemas.openxmlformats.org/officeDocument/2006/relationships/notesMaster" Target="/ppt/notesMasters/notesMaster1.xml" Id="R7ca2293d996849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ClassPilot AI as a finished student workspace. The live conversational Coach is one part of a broader loop from course import to final submission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live product screenshot, captured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problem as an information-to-action gap, not a lack of calendars or note-taking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product requirements and observed Canvas assignment workflows, July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course-bound import flow. The selected course is authoritative, while global import remains available when the course is genuinely unknown.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implementation: course-bound import flow, source evidence catalog, and content parser, July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product as one connected learning loop rather than a collection of utilities. The same selected course and assignment context flows through every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implementation: import, planning, Today focus, submission checker, and Coach modules, July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two-turn live conversation. The Coach first identifies the easiest-to-miss requirement, then converts that advice into a three-day plan with evidence citations and actionable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live product screenshot and Workers AI response, captured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ClassPilot supports execution, not only import. Be transparent that the Canvas OAuth flow is implemented but institutional approval is an external prerequisite.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Today, study scheduler, submission checker, and Canvas connector implementations, July 2026.</a:t>
            </a:r>
          </a:p>
          <a:p xmlns:a="http://schemas.openxmlformats.org/drawingml/2006/main">
            <a:r>
              <a:t>- Canvas LMS OAuth2 documentation: https://developerdocs.instructure.com/services/canvas/oauth2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explain the privacy and academic-integrity boundary. Workers AI is the default live provider; an OpenAI server-side provider remains optional without changing the public response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Worker and Coach system instructions, July 25, 2026.</a:t>
            </a:r>
          </a:p>
          <a:p xmlns:a="http://schemas.openxmlformats.org/drawingml/2006/main">
            <a:r>
              <a:t>- Cloudflare Workers AI bindings: https://developers.cloudflare.com/workers-ai/configuration/bindings/</a:t>
            </a:r>
          </a:p>
          <a:p xmlns:a="http://schemas.openxmlformats.org/drawingml/2006/main">
            <a:r>
              <a:t>- Cloudflare Workers AI JSON mode: https://developers.cloudflare.com/workers-ai/features/json-mode/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the verification evidence: 326 automated tests passed, the public product had no browser console errors, and the 390-pixel mobile layout had no page or transcript overflow.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test suite and public browser QA, July 25, 2026.</a:t>
            </a:r>
          </a:p>
          <a:p xmlns:a="http://schemas.openxmlformats.org/drawingml/2006/main">
            <a:r>
              <a:t>- ClassPilot AI live mobile product screenshot, captured July 25, 2026.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open the live URL. The Coach is online through Workers AI; Canvas sync will become active after the school approves a Developer Key.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ClassPilot AI live product: https://cngei2.github.io/classpilot-ai-website/</a:t>
            </a:r>
          </a:p>
          <a:p xmlns:a="http://schemas.openxmlformats.org/drawingml/2006/main">
            <a:r>
              <a:t>- ClassPilot AI Worker deployment: https://classpilot-ai-coach.cngei2-classpilot.workers.dev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e8c1624a4d46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d9d37f26a44e0e" /><Relationship Type="http://schemas.openxmlformats.org/officeDocument/2006/relationships/slideLayout" Target="/ppt/slideLayouts/slideLayout1.xml" Id="R5627ecae792f43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27ecae792f43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e726d897a4b53" /><Relationship Type="http://schemas.openxmlformats.org/officeDocument/2006/relationships/image" Target="/ppt/media/image.jpeg" Id="Rf0499b74358b400c" /><Relationship Type="http://schemas.openxmlformats.org/officeDocument/2006/relationships/notesSlide" Target="/ppt/notesSlides/notesSlide1.xml" Id="R3654bb0b405a4d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d6ba0d8d44c3a" /><Relationship Type="http://schemas.openxmlformats.org/officeDocument/2006/relationships/notesSlide" Target="/ppt/notesSlides/notesSlide2.xml" Id="R9cd60ab5a49743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fd8f4965846d4" /><Relationship Type="http://schemas.openxmlformats.org/officeDocument/2006/relationships/notesSlide" Target="/ppt/notesSlides/notesSlide3.xml" Id="R1dc0ca26e6d244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02a2b91514e62" /><Relationship Type="http://schemas.openxmlformats.org/officeDocument/2006/relationships/notesSlide" Target="/ppt/notesSlides/notesSlide4.xml" Id="Rb22f91a4d2cf41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948a0817145dc" /><Relationship Type="http://schemas.openxmlformats.org/officeDocument/2006/relationships/image" Target="/ppt/media/image2.jpeg" Id="R130e1cb852ff49fe" /><Relationship Type="http://schemas.openxmlformats.org/officeDocument/2006/relationships/notesSlide" Target="/ppt/notesSlides/notesSlide5.xml" Id="Rdb9050d9a3bb47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22a356e5d468b" /><Relationship Type="http://schemas.openxmlformats.org/officeDocument/2006/relationships/notesSlide" Target="/ppt/notesSlides/notesSlide6.xml" Id="Raa4ec366625b4e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74f56eb664862" /><Relationship Type="http://schemas.openxmlformats.org/officeDocument/2006/relationships/notesSlide" Target="/ppt/notesSlides/notesSlide7.xml" Id="R02b2f145c6ef41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15429a1fd4e94" /><Relationship Type="http://schemas.openxmlformats.org/officeDocument/2006/relationships/image" Target="/ppt/media/image3.jpeg" Id="R268bedd48886494c" /><Relationship Type="http://schemas.openxmlformats.org/officeDocument/2006/relationships/notesSlide" Target="/ppt/notesSlides/notesSlide8.xml" Id="R842273a765644b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d50e4fdbc4be9" /><Relationship Type="http://schemas.openxmlformats.org/officeDocument/2006/relationships/notesSlide" Target="/ppt/notesSlides/notesSlide9.xml" Id="Re977617d201948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C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DDCC0067-4EED-49E1-B814-F62D9EA4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15AE949-3195-4FCD-B75D-43D6EEDE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63F"/>
                </a:solidFill>
              </a:defRPr>
            </a:pPr>
            <a:r>
              <a:rPr sz="1050" b="1">
                <a:solidFill>
                  <a:srgbClr val="C9A63F"/>
                </a:solidFill>
              </a:rPr>
              <a:t>CLASS PILOT AI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58A0D3F-5EDE-4086-AC33-0C6A4982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Turn course material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into the next right action.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210CA153-8888-415B-95A2-C3DC988F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14750"/>
            <a:ext cx="4762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AD1D4"/>
                </a:solidFill>
              </a:defRPr>
            </a:pPr>
            <a:r>
              <a:rPr sz="1575" b="0">
                <a:solidFill>
                  <a:srgbClr val="CAD1D4"/>
                </a:solidFill>
              </a:rPr>
              <a:t>A private student workspace that reads course material, builds a plan, checks the final file, and coaches the student in a live conversation.</a:t>
            </a:r>
          </a:p>
        </p:txBody>
      </p:sp>
      <p:sp>
        <p:nvSpPr>
          <p:cNvPr id="5" name="label-Product introduction-62">
            <a:extLst xmlns:a="http://schemas.openxmlformats.org/drawingml/2006/main">
              <a:ext uri="{FF2B5EF4-FFF2-40B4-BE49-F238E27FC236}">
                <a16:creationId xmlns:a16="http://schemas.microsoft.com/office/drawing/2014/main" id="{1229FEA3-7838-4C52-8910-9A820B9C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1809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PRODUCT INTRODUCTION</a:t>
            </a:r>
          </a:p>
        </p:txBody>
      </p:sp>
      <p:sp>
        <p:nvSpPr>
          <p:cNvPr id="6" name="cover-screen-frame">
            <a:extLst xmlns:a="http://schemas.openxmlformats.org/drawingml/2006/main">
              <a:ext uri="{FF2B5EF4-FFF2-40B4-BE49-F238E27FC236}">
                <a16:creationId xmlns:a16="http://schemas.microsoft.com/office/drawing/2014/main" id="{3E3B973C-9308-4886-A6BD-349EEA61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619750" cy="51816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9545B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499b74358b400c"/>
          <a:srcRect xmlns:a="http://schemas.openxmlformats.org/drawingml/2006/main" l="2017" t="0" r="20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933450"/>
            <a:ext cx="5314950" cy="4876800"/>
          </a:xfrm>
          <a:prstGeom xmlns:a="http://schemas.openxmlformats.org/drawingml/2006/main" prst="roundRect">
            <a:avLst>
              <a:gd name="adj" fmla="val 1367"/>
            </a:avLst>
          </a:prstGeom>
        </p:spPr>
      </p:pic>
    </p:spTree>
    <p:extLst>
      <p:ext uri="{BB962C8B-B14F-4D97-AF65-F5344CB8AC3E}">
        <p14:creationId xmlns:p14="http://schemas.microsoft.com/office/powerpoint/2010/main" val="7970153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6CC7964F-EF1A-421F-B39E-EA6981A0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THE STUDENT PROBLEM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E6E8A8DB-074D-4F4A-9213-5CB1EAC7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02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EBA05033-4F05-43BA-BBAF-73BC5053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Students do not need another dashboard.">
            <a:extLst xmlns:a="http://schemas.openxmlformats.org/drawingml/2006/main">
              <a:ext uri="{FF2B5EF4-FFF2-40B4-BE49-F238E27FC236}">
                <a16:creationId xmlns:a16="http://schemas.microsoft.com/office/drawing/2014/main" id="{45718F58-F3C7-47BB-A2DA-61AFB4D9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Students do not need another dashboard.</a:t>
            </a:r>
          </a:p>
        </p:txBody>
      </p:sp>
      <p:sp>
        <p:nvSpPr>
          <p:cNvPr id="5" name="subtitle-Students do not need another dashboard.">
            <a:extLst xmlns:a="http://schemas.openxmlformats.org/drawingml/2006/main">
              <a:ext uri="{FF2B5EF4-FFF2-40B4-BE49-F238E27FC236}">
                <a16:creationId xmlns:a16="http://schemas.microsoft.com/office/drawing/2014/main" id="{AAB437CA-9BF1-42A4-88EF-CE7A01BD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They need scattered course information turned into a clear, trustworthy plan.</a:t>
            </a:r>
          </a:p>
        </p:txBody>
      </p:sp>
      <p:sp>
        <p:nvSpPr>
          <p:cNvPr id="6" name="problem-card-0">
            <a:extLst xmlns:a="http://schemas.openxmlformats.org/drawingml/2006/main">
              <a:ext uri="{FF2B5EF4-FFF2-40B4-BE49-F238E27FC236}">
                <a16:creationId xmlns:a16="http://schemas.microsoft.com/office/drawing/2014/main" id="{1CC18705-A946-49D7-8D56-B0BE6FD0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34861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7" name="problem-number-0">
            <a:extLst xmlns:a="http://schemas.openxmlformats.org/drawingml/2006/main">
              <a:ext uri="{FF2B5EF4-FFF2-40B4-BE49-F238E27FC236}">
                <a16:creationId xmlns:a16="http://schemas.microsoft.com/office/drawing/2014/main" id="{C42C15EC-DD2D-4BAA-9098-856539CF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01</a:t>
            </a:r>
          </a:p>
        </p:txBody>
      </p:sp>
      <p:sp>
        <p:nvSpPr>
          <p:cNvPr id="8" name="problem-title-0">
            <a:extLst xmlns:a="http://schemas.openxmlformats.org/drawingml/2006/main">
              <a:ext uri="{FF2B5EF4-FFF2-40B4-BE49-F238E27FC236}">
                <a16:creationId xmlns:a16="http://schemas.microsoft.com/office/drawing/2014/main" id="{A12300B3-41F6-46E6-A8CF-E13BF62D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1C22"/>
                </a:solidFill>
              </a:defRPr>
            </a:pPr>
            <a:r>
              <a:rPr sz="2025" b="1">
                <a:solidFill>
                  <a:srgbClr val="141C22"/>
                </a:solidFill>
              </a:rPr>
              <a:t>Course context gets lost</a:t>
            </a:r>
          </a:p>
        </p:txBody>
      </p:sp>
      <p:sp>
        <p:nvSpPr>
          <p:cNvPr id="9" name="problem-body-0">
            <a:extLst xmlns:a="http://schemas.openxmlformats.org/drawingml/2006/main">
              <a:ext uri="{FF2B5EF4-FFF2-40B4-BE49-F238E27FC236}">
                <a16:creationId xmlns:a16="http://schemas.microsoft.com/office/drawing/2014/main" id="{6F2EC913-EA92-4E7A-B582-7A77AD2A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48150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A screenshot, syllabus, and assignment page often describe the same course, but ordinary tools treat them as unrelated files.</a:t>
            </a:r>
          </a:p>
        </p:txBody>
      </p:sp>
      <p:sp>
        <p:nvSpPr>
          <p:cNvPr id="10" name="problem-card-1">
            <a:extLst xmlns:a="http://schemas.openxmlformats.org/drawingml/2006/main">
              <a:ext uri="{FF2B5EF4-FFF2-40B4-BE49-F238E27FC236}">
                <a16:creationId xmlns:a16="http://schemas.microsoft.com/office/drawing/2014/main" id="{57B3C753-52B9-40DE-81F6-871748B5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19350"/>
            <a:ext cx="34861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1" name="problem-number-1">
            <a:extLst xmlns:a="http://schemas.openxmlformats.org/drawingml/2006/main">
              <a:ext uri="{FF2B5EF4-FFF2-40B4-BE49-F238E27FC236}">
                <a16:creationId xmlns:a16="http://schemas.microsoft.com/office/drawing/2014/main" id="{75D072BC-6878-43E9-A9EB-5DB960A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860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02</a:t>
            </a:r>
          </a:p>
        </p:txBody>
      </p:sp>
      <p:sp>
        <p:nvSpPr>
          <p:cNvPr id="12" name="problem-title-1">
            <a:extLst xmlns:a="http://schemas.openxmlformats.org/drawingml/2006/main">
              <a:ext uri="{FF2B5EF4-FFF2-40B4-BE49-F238E27FC236}">
                <a16:creationId xmlns:a16="http://schemas.microsoft.com/office/drawing/2014/main" id="{0E2AFD70-05A2-48A4-B070-89BBE701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766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1C22"/>
                </a:solidFill>
              </a:defRPr>
            </a:pPr>
            <a:r>
              <a:rPr sz="2025" b="1">
                <a:solidFill>
                  <a:srgbClr val="141C22"/>
                </a:solidFill>
              </a:rPr>
              <a:t>Requirements hide in long pages</a:t>
            </a:r>
          </a:p>
        </p:txBody>
      </p:sp>
      <p:sp>
        <p:nvSpPr>
          <p:cNvPr id="13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CA2EB6EB-5A9E-4943-91D7-1D9CF7A5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Due dates, points, deliverables, submission rules, and rubric language compete for attention.</a:t>
            </a:r>
          </a:p>
        </p:txBody>
      </p:sp>
      <p:sp>
        <p:nvSpPr>
          <p:cNvPr id="14" name="problem-card-2">
            <a:extLst xmlns:a="http://schemas.openxmlformats.org/drawingml/2006/main">
              <a:ext uri="{FF2B5EF4-FFF2-40B4-BE49-F238E27FC236}">
                <a16:creationId xmlns:a16="http://schemas.microsoft.com/office/drawing/2014/main" id="{9C0E33D9-FFEC-41A3-AF4D-C0969D1D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4861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5" name="problem-number-2">
            <a:extLst xmlns:a="http://schemas.openxmlformats.org/drawingml/2006/main">
              <a:ext uri="{FF2B5EF4-FFF2-40B4-BE49-F238E27FC236}">
                <a16:creationId xmlns:a16="http://schemas.microsoft.com/office/drawing/2014/main" id="{14A47894-C15F-4598-AFD2-6CF8FF05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7D74"/>
                </a:solidFill>
              </a:defRPr>
            </a:pPr>
            <a:r>
              <a:rPr sz="1050" b="1">
                <a:solidFill>
                  <a:srgbClr val="2F7D74"/>
                </a:solidFill>
              </a:rPr>
              <a:t>03</a:t>
            </a:r>
          </a:p>
        </p:txBody>
      </p:sp>
      <p:sp>
        <p:nvSpPr>
          <p:cNvPr id="16" name="problem-title-2">
            <a:extLst xmlns:a="http://schemas.openxmlformats.org/drawingml/2006/main">
              <a:ext uri="{FF2B5EF4-FFF2-40B4-BE49-F238E27FC236}">
                <a16:creationId xmlns:a16="http://schemas.microsoft.com/office/drawing/2014/main" id="{C58EEE39-7F5D-463F-8E49-67DDDA86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766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1C22"/>
                </a:solidFill>
              </a:defRPr>
            </a:pPr>
            <a:r>
              <a:rPr sz="2025" b="1">
                <a:solidFill>
                  <a:srgbClr val="141C22"/>
                </a:solidFill>
              </a:rPr>
              <a:t>Planning still happens manually</a:t>
            </a:r>
          </a:p>
        </p:txBody>
      </p:sp>
      <p:sp>
        <p:nvSpPr>
          <p:cNvPr id="17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FED7F536-AB53-47DB-9D5E-850EF63A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48150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Even after reading the prompt, the student must translate it into steps, evidence, checks, and a realistic next action.</a:t>
            </a:r>
          </a:p>
        </p:txBody>
      </p:sp>
    </p:spTree>
    <p:extLst>
      <p:ext uri="{BB962C8B-B14F-4D97-AF65-F5344CB8AC3E}">
        <p14:creationId xmlns:p14="http://schemas.microsoft.com/office/powerpoint/2010/main" val="16178751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3">
            <a:extLst xmlns:a="http://schemas.openxmlformats.org/drawingml/2006/main">
              <a:ext uri="{FF2B5EF4-FFF2-40B4-BE49-F238E27FC236}">
                <a16:creationId xmlns:a16="http://schemas.microsoft.com/office/drawing/2014/main" id="{13EE8F65-9563-4031-A533-13ECF9B7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PRODUCT WORKFLOW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FE9655F9-91C3-4416-91DF-265679B4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03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E5D89E68-8452-4B03-899F-35E8FC8E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Upload once. Keep every fact with the right course.">
            <a:extLst xmlns:a="http://schemas.openxmlformats.org/drawingml/2006/main">
              <a:ext uri="{FF2B5EF4-FFF2-40B4-BE49-F238E27FC236}">
                <a16:creationId xmlns:a16="http://schemas.microsoft.com/office/drawing/2014/main" id="{7EF6AE4E-2321-4086-8FD2-BF400696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Upload once. Keep every fact with the right course.</a:t>
            </a:r>
          </a:p>
        </p:txBody>
      </p:sp>
      <p:sp>
        <p:nvSpPr>
          <p:cNvPr id="5" name="subtitle-Upload once. Keep every fact with the right course.">
            <a:extLst xmlns:a="http://schemas.openxmlformats.org/drawingml/2006/main">
              <a:ext uri="{FF2B5EF4-FFF2-40B4-BE49-F238E27FC236}">
                <a16:creationId xmlns:a16="http://schemas.microsoft.com/office/drawing/2014/main" id="{729DAE95-8CAC-4B2F-A78B-58F61511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Importing inside a course removes identity guesswork and prevents syllabus and assignment uploads from splitting into duplicates.</a:t>
            </a:r>
          </a:p>
        </p:txBody>
      </p:sp>
      <p:sp>
        <p:nvSpPr>
          <p:cNvPr id="6" name="step-number-1">
            <a:extLst xmlns:a="http://schemas.openxmlformats.org/drawingml/2006/main">
              <a:ext uri="{FF2B5EF4-FFF2-40B4-BE49-F238E27FC236}">
                <a16:creationId xmlns:a16="http://schemas.microsoft.com/office/drawing/2014/main" id="{41C2250D-112F-483B-9E00-614A2207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7" name="step-digit-1">
            <a:extLst xmlns:a="http://schemas.openxmlformats.org/drawingml/2006/main">
              <a:ext uri="{FF2B5EF4-FFF2-40B4-BE49-F238E27FC236}">
                <a16:creationId xmlns:a16="http://schemas.microsoft.com/office/drawing/2014/main" id="{AD3FB824-3B55-4B4F-9E37-C233E7BD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step-heading-1">
            <a:extLst xmlns:a="http://schemas.openxmlformats.org/drawingml/2006/main">
              <a:ext uri="{FF2B5EF4-FFF2-40B4-BE49-F238E27FC236}">
                <a16:creationId xmlns:a16="http://schemas.microsoft.com/office/drawing/2014/main" id="{184693AB-6EB7-4927-B73D-3E7F2023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Import once</a:t>
            </a:r>
          </a:p>
        </p:txBody>
      </p:sp>
      <p:sp>
        <p:nvSpPr>
          <p:cNvPr id="9" name="step-body-1">
            <a:extLst xmlns:a="http://schemas.openxmlformats.org/drawingml/2006/main">
              <a:ext uri="{FF2B5EF4-FFF2-40B4-BE49-F238E27FC236}">
                <a16:creationId xmlns:a16="http://schemas.microsoft.com/office/drawing/2014/main" id="{BD878C88-1B33-4C21-830E-F00E0015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Upload a screenshot, assignment text, PDF, DOCX, or syllabus directly inside the course.</a:t>
            </a:r>
          </a:p>
        </p:txBody>
      </p:sp>
      <p:sp>
        <p:nvSpPr>
          <p:cNvPr id="10" name="rule-116-302">
            <a:extLst xmlns:a="http://schemas.openxmlformats.org/drawingml/2006/main">
              <a:ext uri="{FF2B5EF4-FFF2-40B4-BE49-F238E27FC236}">
                <a16:creationId xmlns:a16="http://schemas.microsoft.com/office/drawing/2014/main" id="{6671CB29-4EB4-4C86-9EFE-D38432A7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row-0">
            <a:extLst xmlns:a="http://schemas.openxmlformats.org/drawingml/2006/main">
              <a:ext uri="{FF2B5EF4-FFF2-40B4-BE49-F238E27FC236}">
                <a16:creationId xmlns:a16="http://schemas.microsoft.com/office/drawing/2014/main" id="{D16D6F31-0852-4849-B1A4-091CA66B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19400"/>
            <a:ext cx="123825" cy="1238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2" name="step-number-2">
            <a:extLst xmlns:a="http://schemas.openxmlformats.org/drawingml/2006/main">
              <a:ext uri="{FF2B5EF4-FFF2-40B4-BE49-F238E27FC236}">
                <a16:creationId xmlns:a16="http://schemas.microsoft.com/office/drawing/2014/main" id="{C758AC14-4116-4340-876B-CDA33028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3" name="step-digit-2">
            <a:extLst xmlns:a="http://schemas.openxmlformats.org/drawingml/2006/main">
              <a:ext uri="{FF2B5EF4-FFF2-40B4-BE49-F238E27FC236}">
                <a16:creationId xmlns:a16="http://schemas.microsoft.com/office/drawing/2014/main" id="{C6AB886F-36BF-4977-B387-E6A87129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-heading-2">
            <a:extLst xmlns:a="http://schemas.openxmlformats.org/drawingml/2006/main">
              <a:ext uri="{FF2B5EF4-FFF2-40B4-BE49-F238E27FC236}">
                <a16:creationId xmlns:a16="http://schemas.microsoft.com/office/drawing/2014/main" id="{69A493A6-7E2F-4EDA-B777-9C74D155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Extract facts</a:t>
            </a:r>
          </a:p>
        </p:txBody>
      </p:sp>
      <p:sp>
        <p:nvSpPr>
          <p:cNvPr id="15" name="step-body-2">
            <a:extLst xmlns:a="http://schemas.openxmlformats.org/drawingml/2006/main">
              <a:ext uri="{FF2B5EF4-FFF2-40B4-BE49-F238E27FC236}">
                <a16:creationId xmlns:a16="http://schemas.microsoft.com/office/drawing/2014/main" id="{5885FB04-9099-4DC0-BB4B-30043981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Capture course name, assignment title, due date, points, status, requirements, and deliverables.</a:t>
            </a:r>
          </a:p>
        </p:txBody>
      </p:sp>
      <p:sp>
        <p:nvSpPr>
          <p:cNvPr id="16" name="rule-418-302">
            <a:extLst xmlns:a="http://schemas.openxmlformats.org/drawingml/2006/main">
              <a:ext uri="{FF2B5EF4-FFF2-40B4-BE49-F238E27FC236}">
                <a16:creationId xmlns:a16="http://schemas.microsoft.com/office/drawing/2014/main" id="{D23FD719-3D8F-4C56-BCA8-C1C4679A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765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rrow-1">
            <a:extLst xmlns:a="http://schemas.openxmlformats.org/drawingml/2006/main">
              <a:ext uri="{FF2B5EF4-FFF2-40B4-BE49-F238E27FC236}">
                <a16:creationId xmlns:a16="http://schemas.microsoft.com/office/drawing/2014/main" id="{3F301BF0-C5EA-49CD-9ADD-B232519F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19400"/>
            <a:ext cx="123825" cy="1238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8" name="step-number-3">
            <a:extLst xmlns:a="http://schemas.openxmlformats.org/drawingml/2006/main">
              <a:ext uri="{FF2B5EF4-FFF2-40B4-BE49-F238E27FC236}">
                <a16:creationId xmlns:a16="http://schemas.microsoft.com/office/drawing/2014/main" id="{DE2621B7-5EC3-43AA-92AC-923DCC4A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9" name="step-digit-3">
            <a:extLst xmlns:a="http://schemas.openxmlformats.org/drawingml/2006/main">
              <a:ext uri="{FF2B5EF4-FFF2-40B4-BE49-F238E27FC236}">
                <a16:creationId xmlns:a16="http://schemas.microsoft.com/office/drawing/2014/main" id="{14E73AE7-C4E4-443D-BE2B-B5EA15BE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step-heading-3">
            <a:extLst xmlns:a="http://schemas.openxmlformats.org/drawingml/2006/main">
              <a:ext uri="{FF2B5EF4-FFF2-40B4-BE49-F238E27FC236}">
                <a16:creationId xmlns:a16="http://schemas.microsoft.com/office/drawing/2014/main" id="{DC2AF1D0-0C11-4320-AAE8-889E58E3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Organize by course</a:t>
            </a:r>
          </a:p>
        </p:txBody>
      </p:sp>
      <p:sp>
        <p:nvSpPr>
          <p:cNvPr id="21" name="step-body-3">
            <a:extLst xmlns:a="http://schemas.openxmlformats.org/drawingml/2006/main">
              <a:ext uri="{FF2B5EF4-FFF2-40B4-BE49-F238E27FC236}">
                <a16:creationId xmlns:a16="http://schemas.microsoft.com/office/drawing/2014/main" id="{DC411792-184D-4589-8ABC-583F6D80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Keep syllabus-level exams and policies separate from assignment-level tasks and evidence.</a:t>
            </a:r>
          </a:p>
        </p:txBody>
      </p:sp>
      <p:sp>
        <p:nvSpPr>
          <p:cNvPr id="22" name="rule-720-302">
            <a:extLst xmlns:a="http://schemas.openxmlformats.org/drawingml/2006/main">
              <a:ext uri="{FF2B5EF4-FFF2-40B4-BE49-F238E27FC236}">
                <a16:creationId xmlns:a16="http://schemas.microsoft.com/office/drawing/2014/main" id="{FAF3D9C3-439A-4917-A50B-28B0043B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76550"/>
            <a:ext cx="2038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rrow-2">
            <a:extLst xmlns:a="http://schemas.openxmlformats.org/drawingml/2006/main">
              <a:ext uri="{FF2B5EF4-FFF2-40B4-BE49-F238E27FC236}">
                <a16:creationId xmlns:a16="http://schemas.microsoft.com/office/drawing/2014/main" id="{8B7CFC15-D031-4AFD-A22E-4C65E73C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19400"/>
            <a:ext cx="123825" cy="1238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24" name="step-number-4">
            <a:extLst xmlns:a="http://schemas.openxmlformats.org/drawingml/2006/main">
              <a:ext uri="{FF2B5EF4-FFF2-40B4-BE49-F238E27FC236}">
                <a16:creationId xmlns:a16="http://schemas.microsoft.com/office/drawing/2014/main" id="{0519DA33-C9C4-4FC1-85D6-05BA2FD4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47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25" name="step-digit-4">
            <a:extLst xmlns:a="http://schemas.openxmlformats.org/drawingml/2006/main">
              <a:ext uri="{FF2B5EF4-FFF2-40B4-BE49-F238E27FC236}">
                <a16:creationId xmlns:a16="http://schemas.microsoft.com/office/drawing/2014/main" id="{AAEE159C-153A-4CD6-8F86-154E938C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95575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step-heading-4">
            <a:extLst xmlns:a="http://schemas.openxmlformats.org/drawingml/2006/main">
              <a:ext uri="{FF2B5EF4-FFF2-40B4-BE49-F238E27FC236}">
                <a16:creationId xmlns:a16="http://schemas.microsoft.com/office/drawing/2014/main" id="{7AE5F467-1041-4647-9DBF-516E92AF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333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Build the work</a:t>
            </a:r>
          </a:p>
        </p:txBody>
      </p:sp>
      <p:sp>
        <p:nvSpPr>
          <p:cNvPr id="27" name="step-body-4">
            <a:extLst xmlns:a="http://schemas.openxmlformats.org/drawingml/2006/main">
              <a:ext uri="{FF2B5EF4-FFF2-40B4-BE49-F238E27FC236}">
                <a16:creationId xmlns:a16="http://schemas.microsoft.com/office/drawing/2014/main" id="{1D79D506-0EEE-45B5-B881-FB586B05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10000"/>
            <a:ext cx="238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Create tasks, a study schedule, a next action, and evidence-grounded Coach context.</a:t>
            </a:r>
          </a:p>
        </p:txBody>
      </p:sp>
      <p:sp>
        <p:nvSpPr>
          <p:cNvPr id="28" name="workflow-result">
            <a:extLst xmlns:a="http://schemas.openxmlformats.org/drawingml/2006/main">
              <a:ext uri="{FF2B5EF4-FFF2-40B4-BE49-F238E27FC236}">
                <a16:creationId xmlns:a16="http://schemas.microsoft.com/office/drawing/2014/main" id="{4E72650F-F30F-40C5-A019-47873A75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578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7D74"/>
                </a:solidFill>
              </a:defRPr>
            </a:pPr>
            <a:r>
              <a:rPr sz="1275" b="1">
                <a:solidFill>
                  <a:srgbClr val="2F7D74"/>
                </a:solidFill>
              </a:rPr>
              <a:t>RESULT  /  One course workspace holds its assignments, syllabus, schedule, submission checks, and Coach history.</a:t>
            </a:r>
          </a:p>
        </p:txBody>
      </p:sp>
    </p:spTree>
    <p:extLst>
      <p:ext uri="{BB962C8B-B14F-4D97-AF65-F5344CB8AC3E}">
        <p14:creationId xmlns:p14="http://schemas.microsoft.com/office/powerpoint/2010/main" val="17234107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section-4">
            <a:extLst xmlns:a="http://schemas.openxmlformats.org/drawingml/2006/main">
              <a:ext uri="{FF2B5EF4-FFF2-40B4-BE49-F238E27FC236}">
                <a16:creationId xmlns:a16="http://schemas.microsoft.com/office/drawing/2014/main" id="{44B8CE2C-31A5-4773-8981-59ADB80C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THE PRODUCT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92AE81CA-5FB4-4FD6-811C-429E675B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04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BC574603-CD4F-4878-9F06-436D548D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ClassPilot closes the loop from prompt to submission.">
            <a:extLst xmlns:a="http://schemas.openxmlformats.org/drawingml/2006/main">
              <a:ext uri="{FF2B5EF4-FFF2-40B4-BE49-F238E27FC236}">
                <a16:creationId xmlns:a16="http://schemas.microsoft.com/office/drawing/2014/main" id="{63DCCB33-9F37-4BDD-92A5-AB652602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ClassPilot closes the loop from prompt to submission.</a:t>
            </a:r>
          </a:p>
        </p:txBody>
      </p:sp>
      <p:sp>
        <p:nvSpPr>
          <p:cNvPr id="5" name="subtitle-ClassPilot closes the loop from prompt to submission.">
            <a:extLst xmlns:a="http://schemas.openxmlformats.org/drawingml/2006/main">
              <a:ext uri="{FF2B5EF4-FFF2-40B4-BE49-F238E27FC236}">
                <a16:creationId xmlns:a16="http://schemas.microsoft.com/office/drawing/2014/main" id="{70166D9B-9AED-49F6-BED2-DCF36EFE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Each feature uses the same course record, so the student's plan stays connected to the original evidence.</a:t>
            </a:r>
          </a:p>
        </p:txBody>
      </p:sp>
      <p:sp>
        <p:nvSpPr>
          <p:cNvPr id="6" name="loop-node-0">
            <a:extLst xmlns:a="http://schemas.openxmlformats.org/drawingml/2006/main">
              <a:ext uri="{FF2B5EF4-FFF2-40B4-BE49-F238E27FC236}">
                <a16:creationId xmlns:a16="http://schemas.microsoft.com/office/drawing/2014/main" id="{438807E0-950F-420B-B613-385554BB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289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7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E37299C4-FC37-4AD1-AC47-64A6E281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860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loop-title-0">
            <a:extLst xmlns:a="http://schemas.openxmlformats.org/drawingml/2006/main">
              <a:ext uri="{FF2B5EF4-FFF2-40B4-BE49-F238E27FC236}">
                <a16:creationId xmlns:a16="http://schemas.microsoft.com/office/drawing/2014/main" id="{29592C90-1112-4E57-8870-C1B5BA3B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337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1C22"/>
                </a:solidFill>
              </a:defRPr>
            </a:pPr>
            <a:r>
              <a:rPr sz="1575" b="1">
                <a:solidFill>
                  <a:srgbClr val="141C22"/>
                </a:solidFill>
              </a:rPr>
              <a:t>Import</a:t>
            </a:r>
          </a:p>
        </p:txBody>
      </p:sp>
      <p:sp>
        <p:nvSpPr>
          <p:cNvPr id="9" name="loop-body-0">
            <a:extLst xmlns:a="http://schemas.openxmlformats.org/drawingml/2006/main">
              <a:ext uri="{FF2B5EF4-FFF2-40B4-BE49-F238E27FC236}">
                <a16:creationId xmlns:a16="http://schemas.microsoft.com/office/drawing/2014/main" id="{9216B843-1EA8-4EEF-B2EE-55A575FC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10000"/>
            <a:ext cx="1581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Screenshot, text, PDF, DOCX, PPTX</a:t>
            </a:r>
          </a:p>
        </p:txBody>
      </p:sp>
      <p:sp>
        <p:nvSpPr>
          <p:cNvPr id="10" name="rule-102-298">
            <a:extLst xmlns:a="http://schemas.openxmlformats.org/drawingml/2006/main">
              <a:ext uri="{FF2B5EF4-FFF2-40B4-BE49-F238E27FC236}">
                <a16:creationId xmlns:a16="http://schemas.microsoft.com/office/drawing/2014/main" id="{4D054A14-B07B-42EF-9380-9AC64416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arrow-0">
            <a:extLst xmlns:a="http://schemas.openxmlformats.org/drawingml/2006/main">
              <a:ext uri="{FF2B5EF4-FFF2-40B4-BE49-F238E27FC236}">
                <a16:creationId xmlns:a16="http://schemas.microsoft.com/office/drawing/2014/main" id="{80851DCD-B753-40EA-AD36-B00D74B0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81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2" name="loop-node-1">
            <a:extLst xmlns:a="http://schemas.openxmlformats.org/drawingml/2006/main">
              <a:ext uri="{FF2B5EF4-FFF2-40B4-BE49-F238E27FC236}">
                <a16:creationId xmlns:a16="http://schemas.microsoft.com/office/drawing/2014/main" id="{870032A0-EBBD-4574-88AA-BEBA55FA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289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3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230D45B3-0E0E-431B-A2FF-80D0D7A2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860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loop-title-1">
            <a:extLst xmlns:a="http://schemas.openxmlformats.org/drawingml/2006/main">
              <a:ext uri="{FF2B5EF4-FFF2-40B4-BE49-F238E27FC236}">
                <a16:creationId xmlns:a16="http://schemas.microsoft.com/office/drawing/2014/main" id="{944A51C6-1FAE-473B-BB1C-1230B769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337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1C22"/>
                </a:solidFill>
              </a:defRPr>
            </a:pPr>
            <a:r>
              <a:rPr sz="1575" b="1">
                <a:solidFill>
                  <a:srgbClr val="141C22"/>
                </a:solidFill>
              </a:rPr>
              <a:t>Understand</a:t>
            </a:r>
          </a:p>
        </p:txBody>
      </p:sp>
      <p:sp>
        <p:nvSpPr>
          <p:cNvPr id="15" name="loop-body-1">
            <a:extLst xmlns:a="http://schemas.openxmlformats.org/drawingml/2006/main">
              <a:ext uri="{FF2B5EF4-FFF2-40B4-BE49-F238E27FC236}">
                <a16:creationId xmlns:a16="http://schemas.microsoft.com/office/drawing/2014/main" id="{75D3B1F8-AE77-4CA2-ABAA-8BAD8482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10000"/>
            <a:ext cx="1581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Facts, requirements, rubric, dates</a:t>
            </a:r>
          </a:p>
        </p:txBody>
      </p:sp>
      <p:sp>
        <p:nvSpPr>
          <p:cNvPr id="16" name="rule-300-298">
            <a:extLst xmlns:a="http://schemas.openxmlformats.org/drawingml/2006/main">
              <a:ext uri="{FF2B5EF4-FFF2-40B4-BE49-F238E27FC236}">
                <a16:creationId xmlns:a16="http://schemas.microsoft.com/office/drawing/2014/main" id="{F00F7828-EBC2-443D-85BF-F85F4FFE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38450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arrow-1">
            <a:extLst xmlns:a="http://schemas.openxmlformats.org/drawingml/2006/main">
              <a:ext uri="{FF2B5EF4-FFF2-40B4-BE49-F238E27FC236}">
                <a16:creationId xmlns:a16="http://schemas.microsoft.com/office/drawing/2014/main" id="{E79B337C-F218-4791-8532-677C5856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81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8" name="loop-node-2">
            <a:extLst xmlns:a="http://schemas.openxmlformats.org/drawingml/2006/main">
              <a:ext uri="{FF2B5EF4-FFF2-40B4-BE49-F238E27FC236}">
                <a16:creationId xmlns:a16="http://schemas.microsoft.com/office/drawing/2014/main" id="{1BF53103-1534-46BE-96B6-326756C2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289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19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297A2C56-C6A8-4653-B9DB-972AF8CA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860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loop-title-2">
            <a:extLst xmlns:a="http://schemas.openxmlformats.org/drawingml/2006/main">
              <a:ext uri="{FF2B5EF4-FFF2-40B4-BE49-F238E27FC236}">
                <a16:creationId xmlns:a16="http://schemas.microsoft.com/office/drawing/2014/main" id="{54F26BED-6368-4A91-96C8-9746F3C6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337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1C22"/>
                </a:solidFill>
              </a:defRPr>
            </a:pPr>
            <a:r>
              <a:rPr sz="1575" b="1">
                <a:solidFill>
                  <a:srgbClr val="141C22"/>
                </a:solidFill>
              </a:rPr>
              <a:t>Plan</a:t>
            </a:r>
          </a:p>
        </p:txBody>
      </p:sp>
      <p:sp>
        <p:nvSpPr>
          <p:cNvPr id="21" name="loop-body-2">
            <a:extLst xmlns:a="http://schemas.openxmlformats.org/drawingml/2006/main">
              <a:ext uri="{FF2B5EF4-FFF2-40B4-BE49-F238E27FC236}">
                <a16:creationId xmlns:a16="http://schemas.microsoft.com/office/drawing/2014/main" id="{057D5EA6-10C5-49BF-B2E7-D98C2702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10000"/>
            <a:ext cx="1581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Tasks and adaptive study sessions</a:t>
            </a:r>
          </a:p>
        </p:txBody>
      </p:sp>
      <p:sp>
        <p:nvSpPr>
          <p:cNvPr id="22" name="rule-498-298">
            <a:extLst xmlns:a="http://schemas.openxmlformats.org/drawingml/2006/main">
              <a:ext uri="{FF2B5EF4-FFF2-40B4-BE49-F238E27FC236}">
                <a16:creationId xmlns:a16="http://schemas.microsoft.com/office/drawing/2014/main" id="{A5AAE025-A7E7-40E7-BE3C-C874CA86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38450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loop-arrow-2">
            <a:extLst xmlns:a="http://schemas.openxmlformats.org/drawingml/2006/main">
              <a:ext uri="{FF2B5EF4-FFF2-40B4-BE49-F238E27FC236}">
                <a16:creationId xmlns:a16="http://schemas.microsoft.com/office/drawing/2014/main" id="{0CE733CC-5F27-4463-97AC-FBAFD004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81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24" name="loop-node-3">
            <a:extLst xmlns:a="http://schemas.openxmlformats.org/drawingml/2006/main">
              <a:ext uri="{FF2B5EF4-FFF2-40B4-BE49-F238E27FC236}">
                <a16:creationId xmlns:a16="http://schemas.microsoft.com/office/drawing/2014/main" id="{2D0C4F7F-0DC3-42DD-A785-3C750CF0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289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25" name="loop-number-3">
            <a:extLst xmlns:a="http://schemas.openxmlformats.org/drawingml/2006/main">
              <a:ext uri="{FF2B5EF4-FFF2-40B4-BE49-F238E27FC236}">
                <a16:creationId xmlns:a16="http://schemas.microsoft.com/office/drawing/2014/main" id="{3404F5B8-7F0F-480D-82E0-B9B8277A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860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loop-title-3">
            <a:extLst xmlns:a="http://schemas.openxmlformats.org/drawingml/2006/main">
              <a:ext uri="{FF2B5EF4-FFF2-40B4-BE49-F238E27FC236}">
                <a16:creationId xmlns:a16="http://schemas.microsoft.com/office/drawing/2014/main" id="{DA9BD617-B6ED-49F9-B38B-FA483082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337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1C22"/>
                </a:solidFill>
              </a:defRPr>
            </a:pPr>
            <a:r>
              <a:rPr sz="1575" b="1">
                <a:solidFill>
                  <a:srgbClr val="141C22"/>
                </a:solidFill>
              </a:rPr>
              <a:t>Focus</a:t>
            </a:r>
          </a:p>
        </p:txBody>
      </p:sp>
      <p:sp>
        <p:nvSpPr>
          <p:cNvPr id="27" name="loop-body-3">
            <a:extLst xmlns:a="http://schemas.openxmlformats.org/drawingml/2006/main">
              <a:ext uri="{FF2B5EF4-FFF2-40B4-BE49-F238E27FC236}">
                <a16:creationId xmlns:a16="http://schemas.microsoft.com/office/drawing/2014/main" id="{9595BCEA-C917-4935-BB19-2D63BA83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10000"/>
            <a:ext cx="1581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One next action on Today</a:t>
            </a:r>
          </a:p>
        </p:txBody>
      </p:sp>
      <p:sp>
        <p:nvSpPr>
          <p:cNvPr id="28" name="rule-696-298">
            <a:extLst xmlns:a="http://schemas.openxmlformats.org/drawingml/2006/main">
              <a:ext uri="{FF2B5EF4-FFF2-40B4-BE49-F238E27FC236}">
                <a16:creationId xmlns:a16="http://schemas.microsoft.com/office/drawing/2014/main" id="{9868B865-36F1-4228-AC66-9F3DCCC5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38450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loop-arrow-3">
            <a:extLst xmlns:a="http://schemas.openxmlformats.org/drawingml/2006/main">
              <a:ext uri="{FF2B5EF4-FFF2-40B4-BE49-F238E27FC236}">
                <a16:creationId xmlns:a16="http://schemas.microsoft.com/office/drawing/2014/main" id="{2DC85590-43F2-4A8D-8F08-7ABB5915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81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30" name="loop-node-4">
            <a:extLst xmlns:a="http://schemas.openxmlformats.org/drawingml/2006/main">
              <a:ext uri="{FF2B5EF4-FFF2-40B4-BE49-F238E27FC236}">
                <a16:creationId xmlns:a16="http://schemas.microsoft.com/office/drawing/2014/main" id="{92B9E6EC-6654-420A-8245-F706AF74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289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31" name="loop-number-4">
            <a:extLst xmlns:a="http://schemas.openxmlformats.org/drawingml/2006/main">
              <a:ext uri="{FF2B5EF4-FFF2-40B4-BE49-F238E27FC236}">
                <a16:creationId xmlns:a16="http://schemas.microsoft.com/office/drawing/2014/main" id="{CA87C956-9EE0-4FD0-940A-E1FA0C90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860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loop-title-4">
            <a:extLst xmlns:a="http://schemas.openxmlformats.org/drawingml/2006/main">
              <a:ext uri="{FF2B5EF4-FFF2-40B4-BE49-F238E27FC236}">
                <a16:creationId xmlns:a16="http://schemas.microsoft.com/office/drawing/2014/main" id="{CF7005D1-7A3B-47D5-8622-BD335C33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337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1C22"/>
                </a:solidFill>
              </a:defRPr>
            </a:pPr>
            <a:r>
              <a:rPr sz="1575" b="1">
                <a:solidFill>
                  <a:srgbClr val="141C22"/>
                </a:solidFill>
              </a:rPr>
              <a:t>Check</a:t>
            </a:r>
          </a:p>
        </p:txBody>
      </p:sp>
      <p:sp>
        <p:nvSpPr>
          <p:cNvPr id="33" name="loop-body-4">
            <a:extLst xmlns:a="http://schemas.openxmlformats.org/drawingml/2006/main">
              <a:ext uri="{FF2B5EF4-FFF2-40B4-BE49-F238E27FC236}">
                <a16:creationId xmlns:a16="http://schemas.microsoft.com/office/drawing/2014/main" id="{34EA7839-A276-42E3-B208-6711543A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10000"/>
            <a:ext cx="1581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Rubric fit, file quality, AI-writing reminder</a:t>
            </a:r>
          </a:p>
        </p:txBody>
      </p:sp>
      <p:sp>
        <p:nvSpPr>
          <p:cNvPr id="34" name="rule-894-298">
            <a:extLst xmlns:a="http://schemas.openxmlformats.org/drawingml/2006/main">
              <a:ext uri="{FF2B5EF4-FFF2-40B4-BE49-F238E27FC236}">
                <a16:creationId xmlns:a16="http://schemas.microsoft.com/office/drawing/2014/main" id="{EA4BB8B1-0A58-4140-B61D-6C2F002C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38450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loop-arrow-4">
            <a:extLst xmlns:a="http://schemas.openxmlformats.org/drawingml/2006/main">
              <a:ext uri="{FF2B5EF4-FFF2-40B4-BE49-F238E27FC236}">
                <a16:creationId xmlns:a16="http://schemas.microsoft.com/office/drawing/2014/main" id="{E814C3FC-1F20-457E-89D6-29C9379A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781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36" name="loop-node-5">
            <a:extLst xmlns:a="http://schemas.openxmlformats.org/drawingml/2006/main">
              <a:ext uri="{FF2B5EF4-FFF2-40B4-BE49-F238E27FC236}">
                <a16:creationId xmlns:a16="http://schemas.microsoft.com/office/drawing/2014/main" id="{4473E7D6-EA70-4AB8-8E76-088709FF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289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37" name="loop-number-5">
            <a:extLst xmlns:a="http://schemas.openxmlformats.org/drawingml/2006/main">
              <a:ext uri="{FF2B5EF4-FFF2-40B4-BE49-F238E27FC236}">
                <a16:creationId xmlns:a16="http://schemas.microsoft.com/office/drawing/2014/main" id="{D4B470F4-E577-4EE5-B12A-13D91FF2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86050"/>
            <a:ext cx="43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loop-title-5">
            <a:extLst xmlns:a="http://schemas.openxmlformats.org/drawingml/2006/main">
              <a:ext uri="{FF2B5EF4-FFF2-40B4-BE49-F238E27FC236}">
                <a16:creationId xmlns:a16="http://schemas.microsoft.com/office/drawing/2014/main" id="{B96D63F0-D949-41C3-B6E4-D010B425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337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1C22"/>
                </a:solidFill>
              </a:defRPr>
            </a:pPr>
            <a:r>
              <a:rPr sz="1575" b="1">
                <a:solidFill>
                  <a:srgbClr val="141C22"/>
                </a:solidFill>
              </a:rPr>
              <a:t>Coach</a:t>
            </a:r>
          </a:p>
        </p:txBody>
      </p:sp>
      <p:sp>
        <p:nvSpPr>
          <p:cNvPr id="39" name="loop-body-5">
            <a:extLst xmlns:a="http://schemas.openxmlformats.org/drawingml/2006/main">
              <a:ext uri="{FF2B5EF4-FFF2-40B4-BE49-F238E27FC236}">
                <a16:creationId xmlns:a16="http://schemas.microsoft.com/office/drawing/2014/main" id="{1718CBF2-3B5C-46A9-B0C7-8663C703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10000"/>
            <a:ext cx="1581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Live follow-up conversation with citations</a:t>
            </a:r>
          </a:p>
        </p:txBody>
      </p:sp>
      <p:sp>
        <p:nvSpPr>
          <p:cNvPr id="40" name="loop-result-band">
            <a:extLst xmlns:a="http://schemas.openxmlformats.org/drawingml/2006/main">
              <a:ext uri="{FF2B5EF4-FFF2-40B4-BE49-F238E27FC236}">
                <a16:creationId xmlns:a16="http://schemas.microsoft.com/office/drawing/2014/main" id="{106E4FDB-5A46-4F48-8C8F-887A9966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467350"/>
            <a:ext cx="1123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41C22"/>
          </a:solidFill>
          <a:ln xmlns:a="http://schemas.openxmlformats.org/drawingml/2006/main" w="9525">
            <a:solidFill>
              <a:srgbClr val="141C22"/>
            </a:solidFill>
            <a:prstDash val="solid"/>
          </a:ln>
        </p:spPr>
      </p:sp>
      <p:sp>
        <p:nvSpPr>
          <p:cNvPr id="41" name="loop-result">
            <a:extLst xmlns:a="http://schemas.openxmlformats.org/drawingml/2006/main">
              <a:ext uri="{FF2B5EF4-FFF2-40B4-BE49-F238E27FC236}">
                <a16:creationId xmlns:a16="http://schemas.microsoft.com/office/drawing/2014/main" id="{4199F23C-3BBE-40CB-B8AB-9FDEC043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0225"/>
            <a:ext cx="1078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The student always knows what the source said, what remains, and what to do next.</a:t>
            </a:r>
          </a:p>
        </p:txBody>
      </p:sp>
    </p:spTree>
    <p:extLst>
      <p:ext uri="{BB962C8B-B14F-4D97-AF65-F5344CB8AC3E}">
        <p14:creationId xmlns:p14="http://schemas.microsoft.com/office/powerpoint/2010/main" val="1008414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5">
            <a:extLst xmlns:a="http://schemas.openxmlformats.org/drawingml/2006/main">
              <a:ext uri="{FF2B5EF4-FFF2-40B4-BE49-F238E27FC236}">
                <a16:creationId xmlns:a16="http://schemas.microsoft.com/office/drawing/2014/main" id="{D6A7C937-E0AE-4E24-8BF6-E3F2EFB3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LIVE AI COACH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73BCE469-9293-49F9-B901-3C30E7C1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05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34E6F6F9-A353-4465-B15D-F7CAB53E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The Coach is a real multi-turn conversation.">
            <a:extLst xmlns:a="http://schemas.openxmlformats.org/drawingml/2006/main">
              <a:ext uri="{FF2B5EF4-FFF2-40B4-BE49-F238E27FC236}">
                <a16:creationId xmlns:a16="http://schemas.microsoft.com/office/drawing/2014/main" id="{58C42D70-B350-4AB5-B4E3-9CDBD7AD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The Coach is a real multi-turn conversation.</a:t>
            </a:r>
          </a:p>
        </p:txBody>
      </p:sp>
      <p:sp>
        <p:nvSpPr>
          <p:cNvPr id="5" name="subtitle-The Coach is a real multi-turn conversation.">
            <a:extLst xmlns:a="http://schemas.openxmlformats.org/drawingml/2006/main">
              <a:ext uri="{FF2B5EF4-FFF2-40B4-BE49-F238E27FC236}">
                <a16:creationId xmlns:a16="http://schemas.microsoft.com/office/drawing/2014/main" id="{8BD3A010-2F8A-4C3C-9815-5DB4EA1C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Students can ask a question, challenge the answer, request a plan, and act on the next steps without leaving the assignment.</a:t>
            </a:r>
          </a:p>
        </p:txBody>
      </p:sp>
      <p:sp>
        <p:nvSpPr>
          <p:cNvPr id="6" name="coach-screen-frame">
            <a:extLst xmlns:a="http://schemas.openxmlformats.org/drawingml/2006/main">
              <a:ext uri="{FF2B5EF4-FFF2-40B4-BE49-F238E27FC236}">
                <a16:creationId xmlns:a16="http://schemas.microsoft.com/office/drawing/2014/main" id="{A799AC5B-9B38-44A8-B2C8-FDCF013F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7067550" cy="39624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e1cb852ff49fe"/>
          <a:srcRect xmlns:a="http://schemas.openxmlformats.org/drawingml/2006/main" l="0" t="10874" r="0" b="10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2343150"/>
            <a:ext cx="6800850" cy="3695700"/>
          </a:xfrm>
          <a:prstGeom xmlns:a="http://schemas.openxmlformats.org/drawingml/2006/main" prst="roundRect">
            <a:avLst>
              <a:gd name="adj" fmla="val 1804"/>
            </a:avLst>
          </a:prstGeom>
        </p:spPr>
      </p:pic>
      <p:sp>
        <p:nvSpPr>
          <p:cNvPr id="8" name="coach-label-0">
            <a:extLst xmlns:a="http://schemas.openxmlformats.org/drawingml/2006/main">
              <a:ext uri="{FF2B5EF4-FFF2-40B4-BE49-F238E27FC236}">
                <a16:creationId xmlns:a16="http://schemas.microsoft.com/office/drawing/2014/main" id="{C3A4ACB2-2B8D-4B45-9780-691F2C56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FOLLOW UP</a:t>
            </a:r>
          </a:p>
        </p:txBody>
      </p:sp>
      <p:sp>
        <p:nvSpPr>
          <p:cNvPr id="9" name="coach-copy-0">
            <a:extLst xmlns:a="http://schemas.openxmlformats.org/drawingml/2006/main">
              <a:ext uri="{FF2B5EF4-FFF2-40B4-BE49-F238E27FC236}">
                <a16:creationId xmlns:a16="http://schemas.microsoft.com/office/drawing/2014/main" id="{4B027DEB-DA4A-4829-AEDB-50C56834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432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078"/>
                </a:solidFill>
              </a:defRPr>
            </a:pPr>
            <a:r>
              <a:rPr sz="1425" b="0">
                <a:solidFill>
                  <a:srgbClr val="647078"/>
                </a:solidFill>
              </a:rPr>
              <a:t>Conversation history stays scoped to the selected course and assignment.</a:t>
            </a:r>
          </a:p>
        </p:txBody>
      </p:sp>
      <p:sp>
        <p:nvSpPr>
          <p:cNvPr id="10" name="rule-830-362">
            <a:extLst xmlns:a="http://schemas.openxmlformats.org/drawingml/2006/main">
              <a:ext uri="{FF2B5EF4-FFF2-40B4-BE49-F238E27FC236}">
                <a16:creationId xmlns:a16="http://schemas.microsoft.com/office/drawing/2014/main" id="{B7D045E8-20F3-440F-AC9F-2494F1A9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480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ach-label-1">
            <a:extLst xmlns:a="http://schemas.openxmlformats.org/drawingml/2006/main">
              <a:ext uri="{FF2B5EF4-FFF2-40B4-BE49-F238E27FC236}">
                <a16:creationId xmlns:a16="http://schemas.microsoft.com/office/drawing/2014/main" id="{CBA2F5A4-0E3F-4B42-9AEB-58DC73FA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25E16"/>
                </a:solidFill>
              </a:defRPr>
            </a:pPr>
            <a:r>
              <a:rPr sz="975" b="1">
                <a:solidFill>
                  <a:srgbClr val="725E16"/>
                </a:solidFill>
              </a:rPr>
              <a:t>VERIFY</a:t>
            </a:r>
          </a:p>
        </p:txBody>
      </p:sp>
      <p:sp>
        <p:nvSpPr>
          <p:cNvPr id="12" name="coach-copy-1">
            <a:extLst xmlns:a="http://schemas.openxmlformats.org/drawingml/2006/main">
              <a:ext uri="{FF2B5EF4-FFF2-40B4-BE49-F238E27FC236}">
                <a16:creationId xmlns:a16="http://schemas.microsoft.com/office/drawing/2014/main" id="{00A1B16B-E3FC-4CB9-A36C-3D83321E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243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078"/>
                </a:solidFill>
              </a:defRPr>
            </a:pPr>
            <a:r>
              <a:rPr sz="1425" b="0">
                <a:solidFill>
                  <a:srgbClr val="647078"/>
                </a:solidFill>
              </a:rPr>
              <a:t>Evidence chips point back to exact due dates, requirements, and rubric text.</a:t>
            </a:r>
          </a:p>
        </p:txBody>
      </p:sp>
      <p:sp>
        <p:nvSpPr>
          <p:cNvPr id="13" name="rule-830-486">
            <a:extLst xmlns:a="http://schemas.openxmlformats.org/drawingml/2006/main">
              <a:ext uri="{FF2B5EF4-FFF2-40B4-BE49-F238E27FC236}">
                <a16:creationId xmlns:a16="http://schemas.microsoft.com/office/drawing/2014/main" id="{83B0F387-77A3-46B5-9EA7-C9B5E016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291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oach-label-2">
            <a:extLst xmlns:a="http://schemas.openxmlformats.org/drawingml/2006/main">
              <a:ext uri="{FF2B5EF4-FFF2-40B4-BE49-F238E27FC236}">
                <a16:creationId xmlns:a16="http://schemas.microsoft.com/office/drawing/2014/main" id="{993E66AE-10AA-4265-B8AB-AE761AF0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ACT</a:t>
            </a:r>
          </a:p>
        </p:txBody>
      </p:sp>
      <p:sp>
        <p:nvSpPr>
          <p:cNvPr id="15" name="coach-copy-2">
            <a:extLst xmlns:a="http://schemas.openxmlformats.org/drawingml/2006/main">
              <a:ext uri="{FF2B5EF4-FFF2-40B4-BE49-F238E27FC236}">
                <a16:creationId xmlns:a16="http://schemas.microsoft.com/office/drawing/2014/main" id="{FBF6161E-81B5-4FFD-BDF2-89AA11C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054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078"/>
                </a:solidFill>
              </a:defRPr>
            </a:pPr>
            <a:r>
              <a:rPr sz="1425" b="0">
                <a:solidFill>
                  <a:srgbClr val="647078"/>
                </a:solidFill>
              </a:rPr>
              <a:t>Any suggested next step can be added directly to the assignment checklist.</a:t>
            </a:r>
          </a:p>
        </p:txBody>
      </p:sp>
    </p:spTree>
    <p:extLst>
      <p:ext uri="{BB962C8B-B14F-4D97-AF65-F5344CB8AC3E}">
        <p14:creationId xmlns:p14="http://schemas.microsoft.com/office/powerpoint/2010/main" val="6716963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6">
            <a:extLst xmlns:a="http://schemas.openxmlformats.org/drawingml/2006/main">
              <a:ext uri="{FF2B5EF4-FFF2-40B4-BE49-F238E27FC236}">
                <a16:creationId xmlns:a16="http://schemas.microsoft.com/office/drawing/2014/main" id="{8CB14444-5BF1-458E-B6CA-D714B488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DAILY WORKFLOW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2FD077E-3200-4466-8D6E-C362B7AA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06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85D89935-F0FE-4CE4-81D2-26CA31D1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Planning and final checks stay connected.">
            <a:extLst xmlns:a="http://schemas.openxmlformats.org/drawingml/2006/main">
              <a:ext uri="{FF2B5EF4-FFF2-40B4-BE49-F238E27FC236}">
                <a16:creationId xmlns:a16="http://schemas.microsoft.com/office/drawing/2014/main" id="{BA1F6E61-854E-4D9F-8DF0-A550F6C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Planning and final checks stay connected.</a:t>
            </a:r>
          </a:p>
        </p:txBody>
      </p:sp>
      <p:sp>
        <p:nvSpPr>
          <p:cNvPr id="5" name="subtitle-Planning and final checks stay connected.">
            <a:extLst xmlns:a="http://schemas.openxmlformats.org/drawingml/2006/main">
              <a:ext uri="{FF2B5EF4-FFF2-40B4-BE49-F238E27FC236}">
                <a16:creationId xmlns:a16="http://schemas.microsoft.com/office/drawing/2014/main" id="{46DC5EAE-2D0B-4AE2-856D-CD2D96C2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ClassPilot supports the quiet work between importing an assignment and actually submitting it.</a:t>
            </a:r>
          </a:p>
        </p:txBody>
      </p:sp>
      <p:sp>
        <p:nvSpPr>
          <p:cNvPr id="6" name="daily-tag-0">
            <a:extLst xmlns:a="http://schemas.openxmlformats.org/drawingml/2006/main">
              <a:ext uri="{FF2B5EF4-FFF2-40B4-BE49-F238E27FC236}">
                <a16:creationId xmlns:a16="http://schemas.microsoft.com/office/drawing/2014/main" id="{37611E16-AEB6-4943-A058-FA00F8A2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74"/>
                </a:solidFill>
              </a:defRPr>
            </a:pPr>
            <a:r>
              <a:rPr sz="900" b="1">
                <a:solidFill>
                  <a:srgbClr val="2F7D74"/>
                </a:solidFill>
              </a:rPr>
              <a:t>TODAY</a:t>
            </a:r>
          </a:p>
        </p:txBody>
      </p:sp>
      <p:sp>
        <p:nvSpPr>
          <p:cNvPr id="7" name="daily-title-0">
            <a:extLst xmlns:a="http://schemas.openxmlformats.org/drawingml/2006/main">
              <a:ext uri="{FF2B5EF4-FFF2-40B4-BE49-F238E27FC236}">
                <a16:creationId xmlns:a16="http://schemas.microsoft.com/office/drawing/2014/main" id="{7EE8623E-F6BC-475E-960D-94A47156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2669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One-click focus</a:t>
            </a:r>
          </a:p>
        </p:txBody>
      </p:sp>
      <p:sp>
        <p:nvSpPr>
          <p:cNvPr id="8" name="daily-copy-0">
            <a:extLst xmlns:a="http://schemas.openxmlformats.org/drawingml/2006/main">
              <a:ext uri="{FF2B5EF4-FFF2-40B4-BE49-F238E27FC236}">
                <a16:creationId xmlns:a16="http://schemas.microsoft.com/office/drawing/2014/main" id="{DBBC28C7-FC68-4F58-A9AA-853A95AF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670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Shows one next action, starts a focus session, and advances when a checklist item is completed.</a:t>
            </a:r>
          </a:p>
        </p:txBody>
      </p:sp>
      <p:sp>
        <p:nvSpPr>
          <p:cNvPr id="9" name="rule-58-310">
            <a:extLst xmlns:a="http://schemas.openxmlformats.org/drawingml/2006/main">
              <a:ext uri="{FF2B5EF4-FFF2-40B4-BE49-F238E27FC236}">
                <a16:creationId xmlns:a16="http://schemas.microsoft.com/office/drawing/2014/main" id="{C85943EB-66D2-4B7E-A49A-DC499099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aily-tag-1">
            <a:extLst xmlns:a="http://schemas.openxmlformats.org/drawingml/2006/main">
              <a:ext uri="{FF2B5EF4-FFF2-40B4-BE49-F238E27FC236}">
                <a16:creationId xmlns:a16="http://schemas.microsoft.com/office/drawing/2014/main" id="{CE66F96E-AE5B-4C51-9D48-57AA6AA7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992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74"/>
                </a:solidFill>
              </a:defRPr>
            </a:pPr>
            <a:r>
              <a:rPr sz="900" b="1">
                <a:solidFill>
                  <a:srgbClr val="2F7D74"/>
                </a:solidFill>
              </a:rPr>
              <a:t>SCHEDULE</a:t>
            </a:r>
          </a:p>
        </p:txBody>
      </p:sp>
      <p:sp>
        <p:nvSpPr>
          <p:cNvPr id="11" name="daily-title-1">
            <a:extLst xmlns:a="http://schemas.openxmlformats.org/drawingml/2006/main">
              <a:ext uri="{FF2B5EF4-FFF2-40B4-BE49-F238E27FC236}">
                <a16:creationId xmlns:a16="http://schemas.microsoft.com/office/drawing/2014/main" id="{C45B8E18-85A2-43A0-8DC4-45E8EF0A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143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Adaptive study plan</a:t>
            </a:r>
          </a:p>
        </p:txBody>
      </p:sp>
      <p:sp>
        <p:nvSpPr>
          <p:cNvPr id="12" name="daily-copy-1">
            <a:extLst xmlns:a="http://schemas.openxmlformats.org/drawingml/2006/main">
              <a:ext uri="{FF2B5EF4-FFF2-40B4-BE49-F238E27FC236}">
                <a16:creationId xmlns:a16="http://schemas.microsoft.com/office/drawing/2014/main" id="{2FD19688-DE13-48C8-903A-30F6C96F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43250"/>
            <a:ext cx="670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Creates calendar sessions from due dates and unfinished work, then replans after progress changes.</a:t>
            </a:r>
          </a:p>
        </p:txBody>
      </p:sp>
      <p:sp>
        <p:nvSpPr>
          <p:cNvPr id="13" name="rule-58-402">
            <a:extLst xmlns:a="http://schemas.openxmlformats.org/drawingml/2006/main">
              <a:ext uri="{FF2B5EF4-FFF2-40B4-BE49-F238E27FC236}">
                <a16:creationId xmlns:a16="http://schemas.microsoft.com/office/drawing/2014/main" id="{F01DEEDF-28C9-4A54-96D5-BB504025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aily-tag-2">
            <a:extLst xmlns:a="http://schemas.openxmlformats.org/drawingml/2006/main">
              <a:ext uri="{FF2B5EF4-FFF2-40B4-BE49-F238E27FC236}">
                <a16:creationId xmlns:a16="http://schemas.microsoft.com/office/drawing/2014/main" id="{77A2A086-1FB7-449C-872C-ADE12A99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FINAL CHECK</a:t>
            </a:r>
          </a:p>
        </p:txBody>
      </p:sp>
      <p:sp>
        <p:nvSpPr>
          <p:cNvPr id="15" name="daily-title-2">
            <a:extLst xmlns:a="http://schemas.openxmlformats.org/drawingml/2006/main">
              <a:ext uri="{FF2B5EF4-FFF2-40B4-BE49-F238E27FC236}">
                <a16:creationId xmlns:a16="http://schemas.microsoft.com/office/drawing/2014/main" id="{14575ABB-FEFD-4078-8917-C04E5FCF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195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Submission readiness</a:t>
            </a:r>
          </a:p>
        </p:txBody>
      </p:sp>
      <p:sp>
        <p:nvSpPr>
          <p:cNvPr id="16" name="daily-copy-2">
            <a:extLst xmlns:a="http://schemas.openxmlformats.org/drawingml/2006/main">
              <a:ext uri="{FF2B5EF4-FFF2-40B4-BE49-F238E27FC236}">
                <a16:creationId xmlns:a16="http://schemas.microsoft.com/office/drawing/2014/main" id="{1F2A2494-FCF3-45B1-8746-38D06E30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19550"/>
            <a:ext cx="670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Reads the uploaded file once, checks rubric coverage and deliverables, estimates a score range, and warns when AI-writing signals exceed 20%.</a:t>
            </a:r>
          </a:p>
        </p:txBody>
      </p:sp>
      <p:sp>
        <p:nvSpPr>
          <p:cNvPr id="17" name="rule-58-494">
            <a:extLst xmlns:a="http://schemas.openxmlformats.org/drawingml/2006/main">
              <a:ext uri="{FF2B5EF4-FFF2-40B4-BE49-F238E27FC236}">
                <a16:creationId xmlns:a16="http://schemas.microsoft.com/office/drawing/2014/main" id="{10EF45ED-858B-4012-AFFC-80F3E651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53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aily-tag-3">
            <a:extLst xmlns:a="http://schemas.openxmlformats.org/drawingml/2006/main">
              <a:ext uri="{FF2B5EF4-FFF2-40B4-BE49-F238E27FC236}">
                <a16:creationId xmlns:a16="http://schemas.microsoft.com/office/drawing/2014/main" id="{69EB1374-7B73-4A50-8901-085E51C9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62525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74"/>
                </a:solidFill>
              </a:defRPr>
            </a:pPr>
            <a:r>
              <a:rPr sz="900" b="1">
                <a:solidFill>
                  <a:srgbClr val="2F7D74"/>
                </a:solidFill>
              </a:rPr>
              <a:t>CANVAS</a:t>
            </a:r>
          </a:p>
        </p:txBody>
      </p:sp>
      <p:sp>
        <p:nvSpPr>
          <p:cNvPr id="19" name="daily-title-3">
            <a:extLst xmlns:a="http://schemas.openxmlformats.org/drawingml/2006/main">
              <a:ext uri="{FF2B5EF4-FFF2-40B4-BE49-F238E27FC236}">
                <a16:creationId xmlns:a16="http://schemas.microsoft.com/office/drawing/2014/main" id="{8F8A82F8-C305-41AD-BDC1-040DA59A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958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1C22"/>
                </a:solidFill>
              </a:defRPr>
            </a:pPr>
            <a:r>
              <a:rPr sz="1725" b="1">
                <a:solidFill>
                  <a:srgbClr val="141C22"/>
                </a:solidFill>
              </a:rPr>
              <a:t>Read-only sync</a:t>
            </a:r>
          </a:p>
        </p:txBody>
      </p:sp>
      <p:sp>
        <p:nvSpPr>
          <p:cNvPr id="20" name="daily-copy-3">
            <a:extLst xmlns:a="http://schemas.openxmlformats.org/drawingml/2006/main">
              <a:ext uri="{FF2B5EF4-FFF2-40B4-BE49-F238E27FC236}">
                <a16:creationId xmlns:a16="http://schemas.microsoft.com/office/drawing/2014/main" id="{729FC4B9-3FED-41EB-A1A5-6ADCBFD7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895850"/>
            <a:ext cx="670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Imports active courses, syllabus content, assignments, dates, points, and submission state through scoped OAuth.</a:t>
            </a:r>
          </a:p>
        </p:txBody>
      </p:sp>
      <p:sp>
        <p:nvSpPr>
          <p:cNvPr id="21" name="rule-58-586">
            <a:extLst xmlns:a="http://schemas.openxmlformats.org/drawingml/2006/main">
              <a:ext uri="{FF2B5EF4-FFF2-40B4-BE49-F238E27FC236}">
                <a16:creationId xmlns:a16="http://schemas.microsoft.com/office/drawing/2014/main" id="{0FAE2545-B6C2-4DDE-8987-F0A9821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anvas-boundary">
            <a:extLst xmlns:a="http://schemas.openxmlformats.org/drawingml/2006/main">
              <a:ext uri="{FF2B5EF4-FFF2-40B4-BE49-F238E27FC236}">
                <a16:creationId xmlns:a16="http://schemas.microsoft.com/office/drawing/2014/main" id="{5CF05043-3533-4735-855D-17077080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09347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</p:sp>
      <p:sp>
        <p:nvSpPr>
          <p:cNvPr id="23" name="canvas-boundary-text">
            <a:extLst xmlns:a="http://schemas.openxmlformats.org/drawingml/2006/main">
              <a:ext uri="{FF2B5EF4-FFF2-40B4-BE49-F238E27FC236}">
                <a16:creationId xmlns:a16="http://schemas.microsoft.com/office/drawing/2014/main" id="{91D6FAE6-435D-49C1-B3C0-9C2987B5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1059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25E16"/>
                </a:solidFill>
              </a:defRPr>
            </a:pPr>
            <a:r>
              <a:rPr sz="1125" b="1">
                <a:solidFill>
                  <a:srgbClr val="725E16"/>
                </a:solidFill>
              </a:rPr>
              <a:t>Canvas connection code is complete; live school access still requires an administrator-approved Developer Key.</a:t>
            </a:r>
          </a:p>
        </p:txBody>
      </p:sp>
    </p:spTree>
    <p:extLst>
      <p:ext uri="{BB962C8B-B14F-4D97-AF65-F5344CB8AC3E}">
        <p14:creationId xmlns:p14="http://schemas.microsoft.com/office/powerpoint/2010/main" val="11665675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7">
            <a:extLst xmlns:a="http://schemas.openxmlformats.org/drawingml/2006/main">
              <a:ext uri="{FF2B5EF4-FFF2-40B4-BE49-F238E27FC236}">
                <a16:creationId xmlns:a16="http://schemas.microsoft.com/office/drawing/2014/main" id="{C468B355-C192-4019-966B-A5897428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SECURE ARCHITECTURE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C801743E-CFC8-429F-B054-C95FDDB4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07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F1A3D063-83B7-4C7D-8693-1B06D1C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Live AI stays bounded to the selected work.">
            <a:extLst xmlns:a="http://schemas.openxmlformats.org/drawingml/2006/main">
              <a:ext uri="{FF2B5EF4-FFF2-40B4-BE49-F238E27FC236}">
                <a16:creationId xmlns:a16="http://schemas.microsoft.com/office/drawing/2014/main" id="{F0E7A196-7DBB-4F97-BC28-F42A4E6E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Live AI stays bounded to the selected work.</a:t>
            </a:r>
          </a:p>
        </p:txBody>
      </p:sp>
      <p:sp>
        <p:nvSpPr>
          <p:cNvPr id="5" name="subtitle-Live AI stays bounded to the selected work.">
            <a:extLst xmlns:a="http://schemas.openxmlformats.org/drawingml/2006/main">
              <a:ext uri="{FF2B5EF4-FFF2-40B4-BE49-F238E27FC236}">
                <a16:creationId xmlns:a16="http://schemas.microsoft.com/office/drawing/2014/main" id="{97B110A3-DF50-4779-9BCD-C4BB5DE1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The browser sends only the selected context; the Worker validates it and returns a structured, evidence-grounded response.</a:t>
            </a:r>
          </a:p>
        </p:txBody>
      </p:sp>
      <p:sp>
        <p:nvSpPr>
          <p:cNvPr id="6" name="architecture-node-0">
            <a:extLst xmlns:a="http://schemas.openxmlformats.org/drawingml/2006/main">
              <a:ext uri="{FF2B5EF4-FFF2-40B4-BE49-F238E27FC236}">
                <a16:creationId xmlns:a16="http://schemas.microsoft.com/office/drawing/2014/main" id="{B17E8E83-07E2-407C-9AD4-A60902A6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3241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7" name="architecture-index-0">
            <a:extLst xmlns:a="http://schemas.openxmlformats.org/drawingml/2006/main">
              <a:ext uri="{FF2B5EF4-FFF2-40B4-BE49-F238E27FC236}">
                <a16:creationId xmlns:a16="http://schemas.microsoft.com/office/drawing/2014/main" id="{CD318C1D-3E3D-4EED-924A-B7D1A937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01</a:t>
            </a:r>
          </a:p>
        </p:txBody>
      </p:sp>
      <p:sp>
        <p:nvSpPr>
          <p:cNvPr id="8" name="architecture-title-0">
            <a:extLst xmlns:a="http://schemas.openxmlformats.org/drawingml/2006/main">
              <a:ext uri="{FF2B5EF4-FFF2-40B4-BE49-F238E27FC236}">
                <a16:creationId xmlns:a16="http://schemas.microsoft.com/office/drawing/2014/main" id="{AE0044F3-22B0-4674-8955-5E8C114F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Browser</a:t>
            </a:r>
          </a:p>
        </p:txBody>
      </p:sp>
      <p:sp>
        <p:nvSpPr>
          <p:cNvPr id="9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4F794061-DF01-4156-AB06-BC654BDE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Local workspace and scoped conversation</a:t>
            </a:r>
          </a:p>
        </p:txBody>
      </p:sp>
      <p:sp>
        <p:nvSpPr>
          <p:cNvPr id="10" name="rule-298-378">
            <a:extLst xmlns:a="http://schemas.openxmlformats.org/drawingml/2006/main">
              <a:ext uri="{FF2B5EF4-FFF2-40B4-BE49-F238E27FC236}">
                <a16:creationId xmlns:a16="http://schemas.microsoft.com/office/drawing/2014/main" id="{5F370885-20C4-4D1F-B153-882142BD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004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arrow-0">
            <a:extLst xmlns:a="http://schemas.openxmlformats.org/drawingml/2006/main">
              <a:ext uri="{FF2B5EF4-FFF2-40B4-BE49-F238E27FC236}">
                <a16:creationId xmlns:a16="http://schemas.microsoft.com/office/drawing/2014/main" id="{DDD27821-77F3-4194-BF0D-225E8C96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5242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12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54E99595-8C0F-4760-8E27-7837EEE2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0"/>
            <a:ext cx="23241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3" name="architecture-index-1">
            <a:extLst xmlns:a="http://schemas.openxmlformats.org/drawingml/2006/main">
              <a:ext uri="{FF2B5EF4-FFF2-40B4-BE49-F238E27FC236}">
                <a16:creationId xmlns:a16="http://schemas.microsoft.com/office/drawing/2014/main" id="{FE631B5B-ED58-45D9-8884-8892AB6B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02</a:t>
            </a:r>
          </a:p>
        </p:txBody>
      </p:sp>
      <p:sp>
        <p:nvSpPr>
          <p:cNvPr id="14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54C8B05D-CE3C-44BC-9F14-64129E1D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3850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Context builder</a:t>
            </a:r>
          </a:p>
        </p:txBody>
      </p:sp>
      <p:sp>
        <p:nvSpPr>
          <p:cNvPr id="15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7B82EC68-95F3-4AA0-A8AA-21AF5A10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8620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Selected course, assignment, and sources</a:t>
            </a:r>
          </a:p>
        </p:txBody>
      </p:sp>
      <p:sp>
        <p:nvSpPr>
          <p:cNvPr id="16" name="rule-600-378">
            <a:extLst xmlns:a="http://schemas.openxmlformats.org/drawingml/2006/main">
              <a:ext uri="{FF2B5EF4-FFF2-40B4-BE49-F238E27FC236}">
                <a16:creationId xmlns:a16="http://schemas.microsoft.com/office/drawing/2014/main" id="{BF1C4EB2-AA3A-4D5C-9216-CB0B31AE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58027C6D-708E-492F-BC5D-239BF42B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242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18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75B9CB6F-EC73-4C27-9D30-EAC36173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23241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141C22"/>
          </a:solidFill>
          <a:ln xmlns:a="http://schemas.openxmlformats.org/drawingml/2006/main" w="9525">
            <a:solidFill>
              <a:srgbClr val="141C22"/>
            </a:solidFill>
            <a:prstDash val="solid"/>
          </a:ln>
        </p:spPr>
      </p:sp>
      <p:sp>
        <p:nvSpPr>
          <p:cNvPr id="19" name="architecture-index-2">
            <a:extLst xmlns:a="http://schemas.openxmlformats.org/drawingml/2006/main">
              <a:ext uri="{FF2B5EF4-FFF2-40B4-BE49-F238E27FC236}">
                <a16:creationId xmlns:a16="http://schemas.microsoft.com/office/drawing/2014/main" id="{AFB6C743-1816-4E9D-A48F-8E49C389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A63F"/>
                </a:solidFill>
              </a:defRPr>
            </a:pPr>
            <a:r>
              <a:rPr sz="975" b="1">
                <a:solidFill>
                  <a:srgbClr val="C9A63F"/>
                </a:solidFill>
              </a:rPr>
              <a:t>03</a:t>
            </a:r>
          </a:p>
        </p:txBody>
      </p:sp>
      <p:sp>
        <p:nvSpPr>
          <p:cNvPr id="20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B9F734A9-6641-42D9-B7B1-02C706AB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3850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Cloudflare Worker</a:t>
            </a:r>
          </a:p>
        </p:txBody>
      </p:sp>
      <p:sp>
        <p:nvSpPr>
          <p:cNvPr id="21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13A18EE4-C23A-4ECF-BBB2-B908B59A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8620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BD2D5"/>
                </a:solidFill>
              </a:defRPr>
            </a:pPr>
            <a:r>
              <a:rPr sz="1200" b="0">
                <a:solidFill>
                  <a:srgbClr val="CBD2D5"/>
                </a:solidFill>
              </a:rPr>
              <a:t>CORS, size limits, rate limits, validation</a:t>
            </a:r>
          </a:p>
        </p:txBody>
      </p:sp>
      <p:sp>
        <p:nvSpPr>
          <p:cNvPr id="22" name="rule-902-378">
            <a:extLst xmlns:a="http://schemas.openxmlformats.org/drawingml/2006/main">
              <a:ext uri="{FF2B5EF4-FFF2-40B4-BE49-F238E27FC236}">
                <a16:creationId xmlns:a16="http://schemas.microsoft.com/office/drawing/2014/main" id="{0D2CF3E9-FC34-4FB1-A275-4A304009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6004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D0F06623-40BA-4309-A2CF-35CF4659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5242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9A63F"/>
          </a:solidFill>
          <a:ln xmlns:a="http://schemas.openxmlformats.org/drawingml/2006/main" w="9525">
            <a:solidFill>
              <a:srgbClr val="C9A63F"/>
            </a:solidFill>
            <a:prstDash val="solid"/>
          </a:ln>
        </p:spPr>
      </p:sp>
      <p:sp>
        <p:nvSpPr>
          <p:cNvPr id="24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AEE8860B-873B-4E55-AB4B-BDCC9EB1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3241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25" name="architecture-index-3">
            <a:extLst xmlns:a="http://schemas.openxmlformats.org/drawingml/2006/main">
              <a:ext uri="{FF2B5EF4-FFF2-40B4-BE49-F238E27FC236}">
                <a16:creationId xmlns:a16="http://schemas.microsoft.com/office/drawing/2014/main" id="{7A3F9F1C-76E2-4B49-AFD7-297748A6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81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04</a:t>
            </a:r>
          </a:p>
        </p:txBody>
      </p:sp>
      <p:sp>
        <p:nvSpPr>
          <p:cNvPr id="26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D4822DAF-C9CB-4844-A2DA-8F97C0CA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3850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1C22"/>
                </a:solidFill>
              </a:defRPr>
            </a:pPr>
            <a:r>
              <a:rPr sz="1650" b="1">
                <a:solidFill>
                  <a:srgbClr val="141C22"/>
                </a:solidFill>
              </a:rPr>
              <a:t>Workers AI</a:t>
            </a:r>
          </a:p>
        </p:txBody>
      </p:sp>
      <p:sp>
        <p:nvSpPr>
          <p:cNvPr id="27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4BBF4285-10FD-4F11-B72B-B63457F6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8620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078"/>
                </a:solidFill>
              </a:defRPr>
            </a:pPr>
            <a:r>
              <a:rPr sz="1200" b="0">
                <a:solidFill>
                  <a:srgbClr val="647078"/>
                </a:solidFill>
              </a:rPr>
              <a:t>Live answer, citations, next steps</a:t>
            </a:r>
          </a:p>
        </p:txBody>
      </p:sp>
      <p:sp>
        <p:nvSpPr>
          <p:cNvPr id="28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ED4BFA69-C0CF-43E3-A46B-640A62BD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078"/>
                </a:solidFill>
              </a:defRPr>
            </a:pPr>
            <a:r>
              <a:rPr sz="1350" b="0">
                <a:solidFill>
                  <a:srgbClr val="647078"/>
                </a:solidFill>
              </a:rPr>
              <a:t>No secret is stored in client code. Invalid citations are removed, missing evidence is surfaced, and the Coach is instructed not to write an entire assessed submission.</a:t>
            </a:r>
          </a:p>
        </p:txBody>
      </p:sp>
    </p:spTree>
    <p:extLst>
      <p:ext uri="{BB962C8B-B14F-4D97-AF65-F5344CB8AC3E}">
        <p14:creationId xmlns:p14="http://schemas.microsoft.com/office/powerpoint/2010/main" val="1936808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8">
            <a:extLst xmlns:a="http://schemas.openxmlformats.org/drawingml/2006/main">
              <a:ext uri="{FF2B5EF4-FFF2-40B4-BE49-F238E27FC236}">
                <a16:creationId xmlns:a16="http://schemas.microsoft.com/office/drawing/2014/main" id="{0C403526-8641-4E4F-BAF4-7FC86D23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74"/>
                </a:solidFill>
              </a:defRPr>
            </a:pPr>
            <a:r>
              <a:rPr sz="975" b="1">
                <a:solidFill>
                  <a:srgbClr val="2F7D74"/>
                </a:solidFill>
              </a:rPr>
              <a:t>VALIDATION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F9D48018-2B5B-4063-AEAF-3B143498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23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08</a:t>
            </a:r>
          </a:p>
        </p:txBody>
      </p:sp>
      <p:sp>
        <p:nvSpPr>
          <p:cNvPr id="3" name="rule-48-66">
            <a:extLst xmlns:a="http://schemas.openxmlformats.org/drawingml/2006/main">
              <a:ext uri="{FF2B5EF4-FFF2-40B4-BE49-F238E27FC236}">
                <a16:creationId xmlns:a16="http://schemas.microsoft.com/office/drawing/2014/main" id="{5E12379A-0A6E-4295-BC88-66D33B56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tle-The complete workflow is tested, not staged.">
            <a:extLst xmlns:a="http://schemas.openxmlformats.org/drawingml/2006/main">
              <a:ext uri="{FF2B5EF4-FFF2-40B4-BE49-F238E27FC236}">
                <a16:creationId xmlns:a16="http://schemas.microsoft.com/office/drawing/2014/main" id="{3AEEECA4-2908-4920-B5F7-87D9A8CC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382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The complete workflow is tested, not staged.</a:t>
            </a:r>
          </a:p>
        </p:txBody>
      </p:sp>
      <p:sp>
        <p:nvSpPr>
          <p:cNvPr id="5" name="subtitle-The complete workflow is tested, not staged.">
            <a:extLst xmlns:a="http://schemas.openxmlformats.org/drawingml/2006/main">
              <a:ext uri="{FF2B5EF4-FFF2-40B4-BE49-F238E27FC236}">
                <a16:creationId xmlns:a16="http://schemas.microsoft.com/office/drawing/2014/main" id="{D0ABF649-755A-4221-B6AF-CA07DCF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078"/>
                </a:solidFill>
              </a:defRPr>
            </a:pPr>
            <a:r>
              <a:rPr sz="1500" b="0">
                <a:solidFill>
                  <a:srgbClr val="647078"/>
                </a:solidFill>
              </a:rPr>
              <a:t>Automated contracts and live browser QA cover import, planning, submission checks, Canvas boundaries, and multi-turn Coach behavior.</a:t>
            </a:r>
          </a:p>
        </p:txBody>
      </p:sp>
      <p:sp>
        <p:nvSpPr>
          <p:cNvPr id="6" name="stat-0">
            <a:extLst xmlns:a="http://schemas.openxmlformats.org/drawingml/2006/main">
              <a:ext uri="{FF2B5EF4-FFF2-40B4-BE49-F238E27FC236}">
                <a16:creationId xmlns:a16="http://schemas.microsoft.com/office/drawing/2014/main" id="{0ADB01AF-1FA1-41B3-BD87-706B30E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CECE8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7" name="stat-value-0">
            <a:extLst xmlns:a="http://schemas.openxmlformats.org/drawingml/2006/main">
              <a:ext uri="{FF2B5EF4-FFF2-40B4-BE49-F238E27FC236}">
                <a16:creationId xmlns:a16="http://schemas.microsoft.com/office/drawing/2014/main" id="{06CCFD77-9165-47D7-8D8B-C98FFCC7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F7D74"/>
                </a:solidFill>
              </a:defRPr>
            </a:pPr>
            <a:r>
              <a:rPr sz="3225" b="1">
                <a:solidFill>
                  <a:srgbClr val="2F7D74"/>
                </a:solidFill>
              </a:rPr>
              <a:t>326</a:t>
            </a:r>
          </a:p>
        </p:txBody>
      </p:sp>
      <p:sp>
        <p:nvSpPr>
          <p:cNvPr id="8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987E85F9-CB6A-4A3C-907A-978957A6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automated tests passing</a:t>
            </a:r>
          </a:p>
        </p:txBody>
      </p:sp>
      <p:sp>
        <p:nvSpPr>
          <p:cNvPr id="9" name="stat-1">
            <a:extLst xmlns:a="http://schemas.openxmlformats.org/drawingml/2006/main">
              <a:ext uri="{FF2B5EF4-FFF2-40B4-BE49-F238E27FC236}">
                <a16:creationId xmlns:a16="http://schemas.microsoft.com/office/drawing/2014/main" id="{2FF9B683-B955-4E0D-A003-5932F853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146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0" name="stat-value-1">
            <a:extLst xmlns:a="http://schemas.openxmlformats.org/drawingml/2006/main">
              <a:ext uri="{FF2B5EF4-FFF2-40B4-BE49-F238E27FC236}">
                <a16:creationId xmlns:a16="http://schemas.microsoft.com/office/drawing/2014/main" id="{F16180B9-CCF5-402E-93E8-EC4D1D5B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6700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0</a:t>
            </a:r>
          </a:p>
        </p:txBody>
      </p:sp>
      <p:sp>
        <p:nvSpPr>
          <p:cNvPr id="11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E85B373-F2AD-4AE9-A9EF-F60B89F5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3850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browser console errors</a:t>
            </a:r>
          </a:p>
        </p:txBody>
      </p:sp>
      <p:sp>
        <p:nvSpPr>
          <p:cNvPr id="12" name="stat-2">
            <a:extLst xmlns:a="http://schemas.openxmlformats.org/drawingml/2006/main">
              <a:ext uri="{FF2B5EF4-FFF2-40B4-BE49-F238E27FC236}">
                <a16:creationId xmlns:a16="http://schemas.microsoft.com/office/drawing/2014/main" id="{2A0ACFB2-600D-4FFE-9A4E-74A5B6B1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146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CA"/>
            </a:solidFill>
            <a:prstDash val="solid"/>
          </a:ln>
        </p:spPr>
      </p:sp>
      <p:sp>
        <p:nvSpPr>
          <p:cNvPr id="13" name="stat-value-2">
            <a:extLst xmlns:a="http://schemas.openxmlformats.org/drawingml/2006/main">
              <a:ext uri="{FF2B5EF4-FFF2-40B4-BE49-F238E27FC236}">
                <a16:creationId xmlns:a16="http://schemas.microsoft.com/office/drawing/2014/main" id="{9B820956-53BD-483C-9A20-D5EE1D51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67000"/>
            <a:ext cx="123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1C22"/>
                </a:solidFill>
              </a:defRPr>
            </a:pPr>
            <a:r>
              <a:rPr sz="3225" b="1">
                <a:solidFill>
                  <a:srgbClr val="141C22"/>
                </a:solidFill>
              </a:rPr>
              <a:t>390</a:t>
            </a:r>
          </a:p>
        </p:txBody>
      </p:sp>
      <p:sp>
        <p:nvSpPr>
          <p:cNvPr id="14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3470DF-5378-43DA-B62B-A3186509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38500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47078"/>
                </a:solidFill>
              </a:defRPr>
            </a:pPr>
            <a:r>
              <a:rPr sz="975" b="1">
                <a:solidFill>
                  <a:srgbClr val="647078"/>
                </a:solidFill>
              </a:rPr>
              <a:t>px mobile width verified</a:t>
            </a:r>
          </a:p>
        </p:txBody>
      </p:sp>
      <p:sp>
        <p:nvSpPr>
          <p:cNvPr id="15" name="validation-list">
            <a:extLst xmlns:a="http://schemas.openxmlformats.org/drawingml/2006/main">
              <a:ext uri="{FF2B5EF4-FFF2-40B4-BE49-F238E27FC236}">
                <a16:creationId xmlns:a16="http://schemas.microsoft.com/office/drawing/2014/main" id="{278B415E-746D-4A22-B247-B4C9355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9055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VERIFIED 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Screenshots and documents -&gt; exact course and assignment facts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Course-bound upload -&gt; no duplicate course split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Today and scheduler -&gt; next action and replanning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Final check -&gt; rubric coverage, score range, AI-writing reminder</a:t>
            </a:r>
          </a:p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Coach -&gt; two live turns, citations, readable three-day plan</a:t>
            </a:r>
          </a:p>
        </p:txBody>
      </p:sp>
      <p:sp>
        <p:nvSpPr>
          <p:cNvPr id="16" name="mobile-frame">
            <a:extLst xmlns:a="http://schemas.openxmlformats.org/drawingml/2006/main">
              <a:ext uri="{FF2B5EF4-FFF2-40B4-BE49-F238E27FC236}">
                <a16:creationId xmlns:a16="http://schemas.microsoft.com/office/drawing/2014/main" id="{E1328298-75A7-4BD7-BD45-E3DEACD3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71700"/>
            <a:ext cx="2781300" cy="43243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141C22"/>
          </a:solidFill>
          <a:ln xmlns:a="http://schemas.openxmlformats.org/drawingml/2006/main" w="9525">
            <a:solidFill>
              <a:srgbClr val="141C22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bedd48886494c"/>
          <a:srcRect xmlns:a="http://schemas.openxmlformats.org/drawingml/2006/main" l="0" t="12718" r="0" b="127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1900" y="2305050"/>
            <a:ext cx="2514600" cy="4057650"/>
          </a:xfrm>
          <a:prstGeom xmlns:a="http://schemas.openxmlformats.org/drawingml/2006/main" prst="roundRect">
            <a:avLst>
              <a:gd name="adj" fmla="val 2652"/>
            </a:avLst>
          </a:prstGeom>
        </p:spPr>
      </p:pic>
      <p:sp>
        <p:nvSpPr>
          <p:cNvPr id="18" name="label-Mobile QA-1090">
            <a:extLst xmlns:a="http://schemas.openxmlformats.org/drawingml/2006/main">
              <a:ext uri="{FF2B5EF4-FFF2-40B4-BE49-F238E27FC236}">
                <a16:creationId xmlns:a16="http://schemas.microsoft.com/office/drawing/2014/main" id="{8B564D44-2CD8-4AB7-80F0-94139379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71750"/>
            <a:ext cx="1200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2EEDC"/>
          </a:solidFill>
          <a:ln xmlns:a="http://schemas.openxmlformats.org/drawingml/2006/main" w="9525">
            <a:solidFill>
              <a:srgbClr val="F2EEDC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725E16"/>
                </a:solidFill>
              </a:defRPr>
            </a:pPr>
            <a:r>
              <a:rPr sz="900" b="1">
                <a:solidFill>
                  <a:srgbClr val="725E16"/>
                </a:solidFill>
              </a:rPr>
              <a:t>MOBILE QA</a:t>
            </a:r>
          </a:p>
        </p:txBody>
      </p:sp>
      <p:sp>
        <p:nvSpPr>
          <p:cNvPr id="19" name="mobile-callout">
            <a:extLst xmlns:a="http://schemas.openxmlformats.org/drawingml/2006/main">
              <a:ext uri="{FF2B5EF4-FFF2-40B4-BE49-F238E27FC236}">
                <a16:creationId xmlns:a16="http://schemas.microsoft.com/office/drawing/2014/main" id="{C69A67BA-FC0C-4726-8CEB-79C2AD33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67050"/>
            <a:ext cx="12763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078"/>
                </a:solidFill>
              </a:defRPr>
            </a:pPr>
            <a:r>
              <a:rPr sz="1275" b="0">
                <a:solidFill>
                  <a:srgbClr val="647078"/>
                </a:solidFill>
              </a:rPr>
              <a:t>No page or transcript overflow at 390 x 844. The live Coach returned citations and a readable multi-day plan.</a:t>
            </a:r>
          </a:p>
        </p:txBody>
      </p:sp>
    </p:spTree>
    <p:extLst>
      <p:ext uri="{BB962C8B-B14F-4D97-AF65-F5344CB8AC3E}">
        <p14:creationId xmlns:p14="http://schemas.microsoft.com/office/powerpoint/2010/main" val="4131683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41C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92425B85-D062-48E3-8DC7-30D37986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63F"/>
                </a:solidFill>
              </a:defRPr>
            </a:pPr>
            <a:r>
              <a:rPr sz="1050" b="1">
                <a:solidFill>
                  <a:srgbClr val="C9A63F"/>
                </a:solidFill>
              </a:rPr>
              <a:t>CLASS PILOT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86DF85D7-08E6-40D8-935A-492FA828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676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One course.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One clear plan.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One Coach that remembers.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3AB467EF-C481-4330-B6D1-515D1A16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647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AD1D4"/>
                </a:solidFill>
              </a:defRPr>
            </a:pPr>
            <a:r>
              <a:rPr sz="1650" b="0">
                <a:solidFill>
                  <a:srgbClr val="CAD1D4"/>
                </a:solidFill>
              </a:rPr>
              <a:t>A live, evidence-grounded academic workspace designed around the student's actual course materials and next action.</a:t>
            </a:r>
          </a:p>
        </p:txBody>
      </p:sp>
      <p:sp>
        <p:nvSpPr>
          <p:cNvPr id="4" name="close-link">
            <a:extLst xmlns:a="http://schemas.openxmlformats.org/drawingml/2006/main">
              <a:ext uri="{FF2B5EF4-FFF2-40B4-BE49-F238E27FC236}">
                <a16:creationId xmlns:a16="http://schemas.microsoft.com/office/drawing/2014/main" id="{C97BB3FD-6BFA-43DE-850E-60AA7AC8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00300"/>
            <a:ext cx="3524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F7D74"/>
          </a:solidFill>
          <a:ln xmlns:a="http://schemas.openxmlformats.org/drawingml/2006/main" w="9525">
            <a:solidFill>
              <a:srgbClr val="2F7D74"/>
            </a:solidFill>
            <a:prstDash val="solid"/>
          </a:ln>
        </p:spPr>
      </p:sp>
      <p:sp>
        <p:nvSpPr>
          <p:cNvPr id="5" name="close-link-label">
            <a:extLst xmlns:a="http://schemas.openxmlformats.org/drawingml/2006/main">
              <a:ext uri="{FF2B5EF4-FFF2-40B4-BE49-F238E27FC236}">
                <a16:creationId xmlns:a16="http://schemas.microsoft.com/office/drawing/2014/main" id="{D408B31F-975E-496F-B1CC-B472B7D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2EEDC"/>
                </a:solidFill>
              </a:defRPr>
            </a:pPr>
            <a:r>
              <a:rPr sz="975" b="1">
                <a:solidFill>
                  <a:srgbClr val="F2EEDC"/>
                </a:solidFill>
              </a:rPr>
              <a:t>LIVE PRODUCT</a:t>
            </a:r>
          </a:p>
        </p:txBody>
      </p:sp>
      <p:sp>
        <p:nvSpPr>
          <p:cNvPr id="6" name="close-link-url">
            <a:extLst xmlns:a="http://schemas.openxmlformats.org/drawingml/2006/main">
              <a:ext uri="{FF2B5EF4-FFF2-40B4-BE49-F238E27FC236}">
                <a16:creationId xmlns:a16="http://schemas.microsoft.com/office/drawing/2014/main" id="{20AF6A1F-F254-4019-93F1-3F23109B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cngei2.github.io/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classpilot-ai-website/</a:t>
            </a:r>
          </a:p>
        </p:txBody>
      </p:sp>
      <p:sp>
        <p:nvSpPr>
          <p:cNvPr id="7" name="close-note">
            <a:extLst xmlns:a="http://schemas.openxmlformats.org/drawingml/2006/main">
              <a:ext uri="{FF2B5EF4-FFF2-40B4-BE49-F238E27FC236}">
                <a16:creationId xmlns:a16="http://schemas.microsoft.com/office/drawing/2014/main" id="{6CCCA737-F997-4F5E-8118-6F97D2A1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62400"/>
            <a:ext cx="3524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AD1D4"/>
                </a:solidFill>
              </a:defRPr>
            </a:pPr>
            <a:r>
              <a:rPr sz="1275" b="0">
                <a:solidFill>
                  <a:srgbClr val="CAD1D4"/>
                </a:solidFill>
              </a:rPr>
              <a:t>The public product now includes live multi-turn AI, evidence citations, planning, final checks, and responsive mobile support.</a:t>
            </a:r>
          </a:p>
        </p:txBody>
      </p:sp>
    </p:spTree>
    <p:extLst>
      <p:ext uri="{BB962C8B-B14F-4D97-AF65-F5344CB8AC3E}">
        <p14:creationId xmlns:p14="http://schemas.microsoft.com/office/powerpoint/2010/main" val="13487868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2026-07-26T02:19:53.7830000Z</dcterms:created>
  <dcterms:modified xsi:type="dcterms:W3CDTF">2026-07-26T02:19:53.7830000Z</dcterms:modified>
</coreProperties>
</file>