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232a7ce5754cdb" /><Relationship Type="http://schemas.openxmlformats.org/officeDocument/2006/relationships/extended-properties" Target="/docProps/app.xml" Id="R5db53e34d7d84b78" /><Relationship Type="http://schemas.openxmlformats.org/officeDocument/2006/relationships/officeDocument" Target="/ppt/presentation.xml" Id="Ra094852874784b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10cf5092024f4c"/>
  </p:sldMasterIdLst>
  <p:notesMasterIdLst>
    <p:notesMasterId xmlns:r="http://schemas.openxmlformats.org/officeDocument/2006/relationships" r:id="Re66a6f773f2342f0"/>
  </p:notesMasterIdLst>
  <p:sldIdLst>
    <p:sldId xmlns:r="http://schemas.openxmlformats.org/officeDocument/2006/relationships" id="256" r:id="R8aebde479bf24e41"/>
    <p:sldId xmlns:r="http://schemas.openxmlformats.org/officeDocument/2006/relationships" id="257" r:id="R8786dae82a8645ac"/>
    <p:sldId xmlns:r="http://schemas.openxmlformats.org/officeDocument/2006/relationships" id="258" r:id="Rffb6c79023a84b06"/>
    <p:sldId xmlns:r="http://schemas.openxmlformats.org/officeDocument/2006/relationships" id="259" r:id="Rd9d12c7111b740ce"/>
    <p:sldId xmlns:r="http://schemas.openxmlformats.org/officeDocument/2006/relationships" id="260" r:id="R568250b4dd3e478e"/>
    <p:sldId xmlns:r="http://schemas.openxmlformats.org/officeDocument/2006/relationships" id="261" r:id="Rfa53bbff39894ce7"/>
    <p:sldId xmlns:r="http://schemas.openxmlformats.org/officeDocument/2006/relationships" id="262" r:id="R797860f49cd04dc3"/>
    <p:sldId xmlns:r="http://schemas.openxmlformats.org/officeDocument/2006/relationships" id="263" r:id="Re7c39b6455ac4212"/>
    <p:sldId xmlns:r="http://schemas.openxmlformats.org/officeDocument/2006/relationships" id="264" r:id="Ra675704834b040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3d9635712e4ff3" /><Relationship Type="http://schemas.openxmlformats.org/officeDocument/2006/relationships/slideMaster" Target="/ppt/slideMasters/slideMaster1.xml" Id="Rd510cf5092024f4c" /><Relationship Type="http://schemas.openxmlformats.org/officeDocument/2006/relationships/notesMaster" Target="/ppt/notesMasters/notesMaster1.xml" Id="Re66a6f773f2342f0" /><Relationship Type="http://schemas.openxmlformats.org/officeDocument/2006/relationships/presProps" Target="/ppt/presProps.xml" Id="Rd55b601999aa4f36" /><Relationship Type="http://schemas.openxmlformats.org/officeDocument/2006/relationships/tableStyles" Target="/ppt/tableStyles.xml" Id="R4071e0f100fb4442" /><Relationship Type="http://schemas.openxmlformats.org/officeDocument/2006/relationships/slide" Target="/ppt/slides/slide1.xml" Id="R8aebde479bf24e41" /><Relationship Type="http://schemas.openxmlformats.org/officeDocument/2006/relationships/slide" Target="/ppt/slides/slide2.xml" Id="R8786dae82a8645ac" /><Relationship Type="http://schemas.openxmlformats.org/officeDocument/2006/relationships/slide" Target="/ppt/slides/slide3.xml" Id="Rffb6c79023a84b06" /><Relationship Type="http://schemas.openxmlformats.org/officeDocument/2006/relationships/slide" Target="/ppt/slides/slide4.xml" Id="Rd9d12c7111b740ce" /><Relationship Type="http://schemas.openxmlformats.org/officeDocument/2006/relationships/slide" Target="/ppt/slides/slide5.xml" Id="R568250b4dd3e478e" /><Relationship Type="http://schemas.openxmlformats.org/officeDocument/2006/relationships/slide" Target="/ppt/slides/slide6.xml" Id="Rfa53bbff39894ce7" /><Relationship Type="http://schemas.openxmlformats.org/officeDocument/2006/relationships/slide" Target="/ppt/slides/slide7.xml" Id="R797860f49cd04dc3" /><Relationship Type="http://schemas.openxmlformats.org/officeDocument/2006/relationships/slide" Target="/ppt/slides/slide8.xml" Id="Re7c39b6455ac4212" /><Relationship Type="http://schemas.openxmlformats.org/officeDocument/2006/relationships/slide" Target="/ppt/slides/slide9.xml" Id="Ra675704834b040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ce04168b3246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d74b6547aa46fa" /><Relationship Type="http://schemas.openxmlformats.org/officeDocument/2006/relationships/notesMaster" Target="/ppt/notesMasters/notesMaster1.xml" Id="Re4cfee3a41a94c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fedba70cbd403e" /><Relationship Type="http://schemas.openxmlformats.org/officeDocument/2006/relationships/notesMaster" Target="/ppt/notesMasters/notesMaster1.xml" Id="R48ecb2ee953345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9e119632b248a0" /><Relationship Type="http://schemas.openxmlformats.org/officeDocument/2006/relationships/notesMaster" Target="/ppt/notesMasters/notesMaster1.xml" Id="R9e0172e7891c45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eb44d551714631" /><Relationship Type="http://schemas.openxmlformats.org/officeDocument/2006/relationships/notesMaster" Target="/ppt/notesMasters/notesMaster1.xml" Id="Ra03c465204b040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373180b6124190" /><Relationship Type="http://schemas.openxmlformats.org/officeDocument/2006/relationships/notesMaster" Target="/ppt/notesMasters/notesMaster1.xml" Id="R42482838c81944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23a7f961ed4a7a" /><Relationship Type="http://schemas.openxmlformats.org/officeDocument/2006/relationships/notesMaster" Target="/ppt/notesMasters/notesMaster1.xml" Id="R2c02acfe36b447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d1b968baad4817" /><Relationship Type="http://schemas.openxmlformats.org/officeDocument/2006/relationships/notesMaster" Target="/ppt/notesMasters/notesMaster1.xml" Id="R507a2b996df341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175b6ea25a4c59" /><Relationship Type="http://schemas.openxmlformats.org/officeDocument/2006/relationships/notesMaster" Target="/ppt/notesMasters/notesMaster1.xml" Id="R5b6d087eeeee43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26390076884951" /><Relationship Type="http://schemas.openxmlformats.org/officeDocument/2006/relationships/notesMaster" Target="/ppt/notesMasters/notesMaster1.xml" Id="R5dd6481181bb4e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ClassPilot AI as a finished student workspace, then frame the AI Coach as one part of a broader course organization workflow.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local product screenshot, captured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problem as an information-to-action gap, not a lack of calendars or note-taking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product requirements and observed Canvas assignment workflows, July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four-step loop. Emphasize that uploading within a course removes the need for the student to re-identify the course.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implementation: course-bound import flow and content parser, July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out the course and assignment context strip, then show the four quick actions and conversational composer.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local product screenshot, captured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assistant has a bounded context object rather than unrestricted access to all student data. The visible evidence rail lets the student verify what the response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Coach implementation and local product screenshot,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explain the security boundary. The browser holds student-facing state; the Worker controls origins, payload size, validation, rate limiting, and the server secret.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Worker implementation, July 25, 2026.</a:t>
            </a:r>
          </a:p>
          <a:p xmlns:a="http://schemas.openxmlformats.org/drawingml/2006/main">
            <a:r>
              <a:t>- OpenAI Responses API documentation: https://platform.openai.com/docs/api-reference/responses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Position academic integrity as a product feature. The Coach supports interpretation, planning, and checking while leaving judgment and final authorship with the student.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Coach system prompt and privacy UI,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the verification evidence: all automated tests passed, the tested browser had no console errors, and both desktop and mobile layouts were inspected.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test suite and local browser QA, July 25, 2026.</a:t>
            </a:r>
          </a:p>
          <a:p xmlns:a="http://schemas.openxmlformats.org/drawingml/2006/main">
            <a:r>
              <a:t>- ClassPilot AI mobile product screenshot, captured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open the live URL. Be transparent that the real-time model connection is activated through the server secret, while the complete interface and backend are already implemented.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product: https://cngei2.github.io/classpilot-ai-website/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3d6573d1c74b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e72cfa1b084825" /><Relationship Type="http://schemas.openxmlformats.org/officeDocument/2006/relationships/slideLayout" Target="/ppt/slideLayouts/slideLayout1.xml" Id="R9e42b8978b414f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42b8978b414f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4698e89b048a5" /><Relationship Type="http://schemas.openxmlformats.org/officeDocument/2006/relationships/image" Target="/ppt/media/image.jpeg" Id="Rd0e42696ef204d52" /><Relationship Type="http://schemas.openxmlformats.org/officeDocument/2006/relationships/notesSlide" Target="/ppt/notesSlides/notesSlide1.xml" Id="R820f906c317043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a9b952201479b" /><Relationship Type="http://schemas.openxmlformats.org/officeDocument/2006/relationships/notesSlide" Target="/ppt/notesSlides/notesSlide2.xml" Id="Re8d0bb3bbd1942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5a205a2414789" /><Relationship Type="http://schemas.openxmlformats.org/officeDocument/2006/relationships/notesSlide" Target="/ppt/notesSlides/notesSlide3.xml" Id="R537098478cb54a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adef8820345e3" /><Relationship Type="http://schemas.openxmlformats.org/officeDocument/2006/relationships/image" Target="/ppt/media/image2.jpeg" Id="R7af97d9e081b419c" /><Relationship Type="http://schemas.openxmlformats.org/officeDocument/2006/relationships/notesSlide" Target="/ppt/notesSlides/notesSlide4.xml" Id="R0bc4215c7e434e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a6dd5a89f4a8d" /><Relationship Type="http://schemas.openxmlformats.org/officeDocument/2006/relationships/image" Target="/ppt/media/image3.jpeg" Id="Rbda14dd8dfda4bb6" /><Relationship Type="http://schemas.openxmlformats.org/officeDocument/2006/relationships/notesSlide" Target="/ppt/notesSlides/notesSlide5.xml" Id="R78f82616a0e940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e77117359412f" /><Relationship Type="http://schemas.openxmlformats.org/officeDocument/2006/relationships/notesSlide" Target="/ppt/notesSlides/notesSlide6.xml" Id="R885096d042a241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b9d080c7e43f3" /><Relationship Type="http://schemas.openxmlformats.org/officeDocument/2006/relationships/notesSlide" Target="/ppt/notesSlides/notesSlide7.xml" Id="R4708c9f715cc41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e703e921e4ec1" /><Relationship Type="http://schemas.openxmlformats.org/officeDocument/2006/relationships/image" Target="/ppt/media/image4.jpeg" Id="R64188655835f45bf" /><Relationship Type="http://schemas.openxmlformats.org/officeDocument/2006/relationships/notesSlide" Target="/ppt/notesSlides/notesSlide8.xml" Id="R95d9413605354b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2c22a1e9a449d" /><Relationship Type="http://schemas.openxmlformats.org/officeDocument/2006/relationships/notesSlide" Target="/ppt/notesSlides/notesSlide9.xml" Id="R6c7c1420de7d4f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C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B98E9ADE-7DC6-4F0B-87F6-7C58B806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54239CA0-5A15-4BA5-BE2E-62128662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63F"/>
                </a:solidFill>
              </a:defRPr>
            </a:pPr>
            <a:r>
              <a:rPr sz="1050" b="1">
                <a:solidFill>
                  <a:srgbClr val="C9A63F"/>
                </a:solidFill>
              </a:rPr>
              <a:t>CLASS PILOT AI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00D1361-0D8C-4060-9D2D-D73CBD9D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Turn course material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into the next right action.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07EE67A0-D45F-4B0D-91CA-2FE397C2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14750"/>
            <a:ext cx="4762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AD1D4"/>
                </a:solidFill>
              </a:defRPr>
            </a:pPr>
            <a:r>
              <a:rPr sz="1575" b="0">
                <a:solidFill>
                  <a:srgbClr val="CAD1D4"/>
                </a:solidFill>
              </a:rPr>
              <a:t>A private student workspace that reads uploads, organizes coursework, and coaches the student through the work.</a:t>
            </a:r>
          </a:p>
        </p:txBody>
      </p:sp>
      <p:sp>
        <p:nvSpPr>
          <p:cNvPr id="5" name="label-Product introduction-62">
            <a:extLst xmlns:a="http://schemas.openxmlformats.org/drawingml/2006/main">
              <a:ext uri="{FF2B5EF4-FFF2-40B4-BE49-F238E27FC236}">
                <a16:creationId xmlns:a16="http://schemas.microsoft.com/office/drawing/2014/main" id="{DDB527BD-4164-442A-AECC-46C1D935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1809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PRODUCT INTRODUCTION</a:t>
            </a:r>
          </a:p>
        </p:txBody>
      </p:sp>
      <p:sp>
        <p:nvSpPr>
          <p:cNvPr id="6" name="cover-screen-frame">
            <a:extLst xmlns:a="http://schemas.openxmlformats.org/drawingml/2006/main">
              <a:ext uri="{FF2B5EF4-FFF2-40B4-BE49-F238E27FC236}">
                <a16:creationId xmlns:a16="http://schemas.microsoft.com/office/drawing/2014/main" id="{88540A10-28E5-45C4-83CA-647C70FF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619750" cy="51816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9545B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42696ef204d52"/>
          <a:srcRect xmlns:a="http://schemas.openxmlformats.org/drawingml/2006/main" l="0" t="3208" r="0" b="32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933450"/>
            <a:ext cx="5314950" cy="4876800"/>
          </a:xfrm>
          <a:prstGeom xmlns:a="http://schemas.openxmlformats.org/drawingml/2006/main" prst="roundRect">
            <a:avLst>
              <a:gd name="adj" fmla="val 1367"/>
            </a:avLst>
          </a:prstGeom>
        </p:spPr>
      </p:pic>
    </p:spTree>
    <p:extLst>
      <p:ext uri="{BB962C8B-B14F-4D97-AF65-F5344CB8AC3E}">
        <p14:creationId xmlns:p14="http://schemas.microsoft.com/office/powerpoint/2010/main" val="6724931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F9A240E-858F-4133-BD90-C438ACEF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THE STUDENT PROBLEM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782D9AC1-51D4-455E-9C22-B0CC9B3A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02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A7DD98FC-4DB1-4DFB-8A9E-32EB711A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Students do not need another dashboard.">
            <a:extLst xmlns:a="http://schemas.openxmlformats.org/drawingml/2006/main">
              <a:ext uri="{FF2B5EF4-FFF2-40B4-BE49-F238E27FC236}">
                <a16:creationId xmlns:a16="http://schemas.microsoft.com/office/drawing/2014/main" id="{050217B6-86D6-41A8-AEA9-59826E3D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Students do not need another dashboard.</a:t>
            </a:r>
          </a:p>
        </p:txBody>
      </p:sp>
      <p:sp>
        <p:nvSpPr>
          <p:cNvPr id="5" name="subtitle-Students do not need another dashboard.">
            <a:extLst xmlns:a="http://schemas.openxmlformats.org/drawingml/2006/main">
              <a:ext uri="{FF2B5EF4-FFF2-40B4-BE49-F238E27FC236}">
                <a16:creationId xmlns:a16="http://schemas.microsoft.com/office/drawing/2014/main" id="{301790BB-0433-439C-B466-71CFC579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They need scattered course information turned into a clear, trustworthy plan.</a:t>
            </a:r>
          </a:p>
        </p:txBody>
      </p:sp>
      <p:sp>
        <p:nvSpPr>
          <p:cNvPr id="6" name="problem-card-0">
            <a:extLst xmlns:a="http://schemas.openxmlformats.org/drawingml/2006/main">
              <a:ext uri="{FF2B5EF4-FFF2-40B4-BE49-F238E27FC236}">
                <a16:creationId xmlns:a16="http://schemas.microsoft.com/office/drawing/2014/main" id="{EE5B6D14-955C-4128-A22B-EF4749BE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34861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7" name="problem-number-0">
            <a:extLst xmlns:a="http://schemas.openxmlformats.org/drawingml/2006/main">
              <a:ext uri="{FF2B5EF4-FFF2-40B4-BE49-F238E27FC236}">
                <a16:creationId xmlns:a16="http://schemas.microsoft.com/office/drawing/2014/main" id="{55FC15CB-1FF9-44BB-A74B-B9497C17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01</a:t>
            </a:r>
          </a:p>
        </p:txBody>
      </p:sp>
      <p:sp>
        <p:nvSpPr>
          <p:cNvPr id="8" name="problem-title-0">
            <a:extLst xmlns:a="http://schemas.openxmlformats.org/drawingml/2006/main">
              <a:ext uri="{FF2B5EF4-FFF2-40B4-BE49-F238E27FC236}">
                <a16:creationId xmlns:a16="http://schemas.microsoft.com/office/drawing/2014/main" id="{89532B20-A679-41A7-8D04-E53F21E4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1C22"/>
                </a:solidFill>
              </a:defRPr>
            </a:pPr>
            <a:r>
              <a:rPr sz="2025" b="1">
                <a:solidFill>
                  <a:srgbClr val="141C22"/>
                </a:solidFill>
              </a:rPr>
              <a:t>Course context gets lost</a:t>
            </a:r>
          </a:p>
        </p:txBody>
      </p:sp>
      <p:sp>
        <p:nvSpPr>
          <p:cNvPr id="9" name="problem-body-0">
            <a:extLst xmlns:a="http://schemas.openxmlformats.org/drawingml/2006/main">
              <a:ext uri="{FF2B5EF4-FFF2-40B4-BE49-F238E27FC236}">
                <a16:creationId xmlns:a16="http://schemas.microsoft.com/office/drawing/2014/main" id="{DF5B3597-7520-4B9E-9589-4A2DACAF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48150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A screenshot, syllabus, and assignment page often describe the same course, but ordinary tools treat them as unrelated files.</a:t>
            </a:r>
          </a:p>
        </p:txBody>
      </p:sp>
      <p:sp>
        <p:nvSpPr>
          <p:cNvPr id="10" name="problem-card-1">
            <a:extLst xmlns:a="http://schemas.openxmlformats.org/drawingml/2006/main">
              <a:ext uri="{FF2B5EF4-FFF2-40B4-BE49-F238E27FC236}">
                <a16:creationId xmlns:a16="http://schemas.microsoft.com/office/drawing/2014/main" id="{77AE4F16-48D7-4F62-AAE7-9BB28462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19350"/>
            <a:ext cx="34861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1" name="problem-number-1">
            <a:extLst xmlns:a="http://schemas.openxmlformats.org/drawingml/2006/main">
              <a:ext uri="{FF2B5EF4-FFF2-40B4-BE49-F238E27FC236}">
                <a16:creationId xmlns:a16="http://schemas.microsoft.com/office/drawing/2014/main" id="{69C366F3-2A42-488D-B3DF-8B22A8CB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860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02</a:t>
            </a:r>
          </a:p>
        </p:txBody>
      </p:sp>
      <p:sp>
        <p:nvSpPr>
          <p:cNvPr id="12" name="problem-title-1">
            <a:extLst xmlns:a="http://schemas.openxmlformats.org/drawingml/2006/main">
              <a:ext uri="{FF2B5EF4-FFF2-40B4-BE49-F238E27FC236}">
                <a16:creationId xmlns:a16="http://schemas.microsoft.com/office/drawing/2014/main" id="{D677169F-3687-42AF-B75D-839DD240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766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1C22"/>
                </a:solidFill>
              </a:defRPr>
            </a:pPr>
            <a:r>
              <a:rPr sz="2025" b="1">
                <a:solidFill>
                  <a:srgbClr val="141C22"/>
                </a:solidFill>
              </a:rPr>
              <a:t>Requirements hide in long pages</a:t>
            </a:r>
          </a:p>
        </p:txBody>
      </p:sp>
      <p:sp>
        <p:nvSpPr>
          <p:cNvPr id="13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DD6021C2-5A02-4F03-A5EC-9E945055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Due dates, points, deliverables, submission rules, and rubric language compete for attention.</a:t>
            </a:r>
          </a:p>
        </p:txBody>
      </p:sp>
      <p:sp>
        <p:nvSpPr>
          <p:cNvPr id="14" name="problem-card-2">
            <a:extLst xmlns:a="http://schemas.openxmlformats.org/drawingml/2006/main">
              <a:ext uri="{FF2B5EF4-FFF2-40B4-BE49-F238E27FC236}">
                <a16:creationId xmlns:a16="http://schemas.microsoft.com/office/drawing/2014/main" id="{F88665A5-4B9B-40E6-BAC9-828A0350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4861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5" name="problem-number-2">
            <a:extLst xmlns:a="http://schemas.openxmlformats.org/drawingml/2006/main">
              <a:ext uri="{FF2B5EF4-FFF2-40B4-BE49-F238E27FC236}">
                <a16:creationId xmlns:a16="http://schemas.microsoft.com/office/drawing/2014/main" id="{94C442B2-8CFF-41CF-9B5B-B433ADC9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03</a:t>
            </a:r>
          </a:p>
        </p:txBody>
      </p:sp>
      <p:sp>
        <p:nvSpPr>
          <p:cNvPr id="16" name="problem-title-2">
            <a:extLst xmlns:a="http://schemas.openxmlformats.org/drawingml/2006/main">
              <a:ext uri="{FF2B5EF4-FFF2-40B4-BE49-F238E27FC236}">
                <a16:creationId xmlns:a16="http://schemas.microsoft.com/office/drawing/2014/main" id="{D49089CC-A7DF-4021-94C5-E163A40B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766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1C22"/>
                </a:solidFill>
              </a:defRPr>
            </a:pPr>
            <a:r>
              <a:rPr sz="2025" b="1">
                <a:solidFill>
                  <a:srgbClr val="141C22"/>
                </a:solidFill>
              </a:rPr>
              <a:t>Planning still happens manually</a:t>
            </a:r>
          </a:p>
        </p:txBody>
      </p:sp>
      <p:sp>
        <p:nvSpPr>
          <p:cNvPr id="17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AD36C4CF-3E14-4A47-B4F2-E6DB99BB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48150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Even after reading the prompt, the student must translate it into steps, evidence, checks, and a realistic next action.</a:t>
            </a:r>
          </a:p>
        </p:txBody>
      </p:sp>
    </p:spTree>
    <p:extLst>
      <p:ext uri="{BB962C8B-B14F-4D97-AF65-F5344CB8AC3E}">
        <p14:creationId xmlns:p14="http://schemas.microsoft.com/office/powerpoint/2010/main" val="10794637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3">
            <a:extLst xmlns:a="http://schemas.openxmlformats.org/drawingml/2006/main">
              <a:ext uri="{FF2B5EF4-FFF2-40B4-BE49-F238E27FC236}">
                <a16:creationId xmlns:a16="http://schemas.microsoft.com/office/drawing/2014/main" id="{AE1CC0E4-6A94-4146-B3F3-D3ED6C9B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PRODUCT WORKFLOW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2DF6F15B-D2CC-4C8F-B05A-41B4F0E1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03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242140C2-FCA5-46F4-AB68-2C04B2D2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One upload becomes an organized course workflow.">
            <a:extLst xmlns:a="http://schemas.openxmlformats.org/drawingml/2006/main">
              <a:ext uri="{FF2B5EF4-FFF2-40B4-BE49-F238E27FC236}">
                <a16:creationId xmlns:a16="http://schemas.microsoft.com/office/drawing/2014/main" id="{07DF20AD-6778-4C71-85C6-18F5E0F5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One upload becomes an organized course workflow.</a:t>
            </a:r>
          </a:p>
        </p:txBody>
      </p:sp>
      <p:sp>
        <p:nvSpPr>
          <p:cNvPr id="5" name="subtitle-One upload becomes an organized course workflow.">
            <a:extLst xmlns:a="http://schemas.openxmlformats.org/drawingml/2006/main">
              <a:ext uri="{FF2B5EF4-FFF2-40B4-BE49-F238E27FC236}">
                <a16:creationId xmlns:a16="http://schemas.microsoft.com/office/drawing/2014/main" id="{67A5F65E-3262-4121-A319-DBF2B0F3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The selected course is the source of truth, so files cannot drift into duplicate course records.</a:t>
            </a:r>
          </a:p>
        </p:txBody>
      </p:sp>
      <p:sp>
        <p:nvSpPr>
          <p:cNvPr id="6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7A9B5A94-58D3-40BD-BAAD-37808F18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7" name="step-digit-1">
            <a:extLst xmlns:a="http://schemas.openxmlformats.org/drawingml/2006/main">
              <a:ext uri="{FF2B5EF4-FFF2-40B4-BE49-F238E27FC236}">
                <a16:creationId xmlns:a16="http://schemas.microsoft.com/office/drawing/2014/main" id="{AC476E7F-F0A3-4650-A96A-3482D389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step-heading-1">
            <a:extLst xmlns:a="http://schemas.openxmlformats.org/drawingml/2006/main">
              <a:ext uri="{FF2B5EF4-FFF2-40B4-BE49-F238E27FC236}">
                <a16:creationId xmlns:a16="http://schemas.microsoft.com/office/drawing/2014/main" id="{A08CE2DE-CF0A-4F6B-9D97-7EF5FF66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Import once</a:t>
            </a:r>
          </a:p>
        </p:txBody>
      </p:sp>
      <p:sp>
        <p:nvSpPr>
          <p:cNvPr id="9" name="step-body-1">
            <a:extLst xmlns:a="http://schemas.openxmlformats.org/drawingml/2006/main">
              <a:ext uri="{FF2B5EF4-FFF2-40B4-BE49-F238E27FC236}">
                <a16:creationId xmlns:a16="http://schemas.microsoft.com/office/drawing/2014/main" id="{FC7857DF-2D3C-4604-95F8-4D0760DA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Upload a screenshot, assignment text, PDF, DOCX, or syllabus directly inside the course.</a:t>
            </a:r>
          </a:p>
        </p:txBody>
      </p:sp>
      <p:sp>
        <p:nvSpPr>
          <p:cNvPr id="10" name="rule-116-302">
            <a:extLst xmlns:a="http://schemas.openxmlformats.org/drawingml/2006/main">
              <a:ext uri="{FF2B5EF4-FFF2-40B4-BE49-F238E27FC236}">
                <a16:creationId xmlns:a16="http://schemas.microsoft.com/office/drawing/2014/main" id="{6E177169-045E-454E-AE89-31686EC2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row-0">
            <a:extLst xmlns:a="http://schemas.openxmlformats.org/drawingml/2006/main">
              <a:ext uri="{FF2B5EF4-FFF2-40B4-BE49-F238E27FC236}">
                <a16:creationId xmlns:a16="http://schemas.microsoft.com/office/drawing/2014/main" id="{3E4BCB26-FF2C-41BA-8743-F0234BA4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19400"/>
            <a:ext cx="123825" cy="1238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2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870CF76B-8D69-4EE5-98C2-4F19ABF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3" name="step-digit-2">
            <a:extLst xmlns:a="http://schemas.openxmlformats.org/drawingml/2006/main">
              <a:ext uri="{FF2B5EF4-FFF2-40B4-BE49-F238E27FC236}">
                <a16:creationId xmlns:a16="http://schemas.microsoft.com/office/drawing/2014/main" id="{E6410D67-D884-41FF-911F-3675DAD9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-heading-2">
            <a:extLst xmlns:a="http://schemas.openxmlformats.org/drawingml/2006/main">
              <a:ext uri="{FF2B5EF4-FFF2-40B4-BE49-F238E27FC236}">
                <a16:creationId xmlns:a16="http://schemas.microsoft.com/office/drawing/2014/main" id="{0BD14744-4BFD-4082-88F0-9946470D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Extract facts</a:t>
            </a:r>
          </a:p>
        </p:txBody>
      </p:sp>
      <p:sp>
        <p:nvSpPr>
          <p:cNvPr id="15" name="step-body-2">
            <a:extLst xmlns:a="http://schemas.openxmlformats.org/drawingml/2006/main">
              <a:ext uri="{FF2B5EF4-FFF2-40B4-BE49-F238E27FC236}">
                <a16:creationId xmlns:a16="http://schemas.microsoft.com/office/drawing/2014/main" id="{B92F9DEE-D287-403C-931B-27DC803F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Capture course name, assignment title, due date, points, status, requirements, and deliverables.</a:t>
            </a:r>
          </a:p>
        </p:txBody>
      </p:sp>
      <p:sp>
        <p:nvSpPr>
          <p:cNvPr id="16" name="rule-418-302">
            <a:extLst xmlns:a="http://schemas.openxmlformats.org/drawingml/2006/main">
              <a:ext uri="{FF2B5EF4-FFF2-40B4-BE49-F238E27FC236}">
                <a16:creationId xmlns:a16="http://schemas.microsoft.com/office/drawing/2014/main" id="{AF6CD846-7CEF-49B6-A9E6-EFFEC68E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765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rrow-1">
            <a:extLst xmlns:a="http://schemas.openxmlformats.org/drawingml/2006/main">
              <a:ext uri="{FF2B5EF4-FFF2-40B4-BE49-F238E27FC236}">
                <a16:creationId xmlns:a16="http://schemas.microsoft.com/office/drawing/2014/main" id="{7476F532-2E7B-4541-8472-131FC052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19400"/>
            <a:ext cx="123825" cy="1238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8" name="step-number-3">
            <a:extLst xmlns:a="http://schemas.openxmlformats.org/drawingml/2006/main">
              <a:ext uri="{FF2B5EF4-FFF2-40B4-BE49-F238E27FC236}">
                <a16:creationId xmlns:a16="http://schemas.microsoft.com/office/drawing/2014/main" id="{DAE94662-2899-4CA1-9C97-0DEE04D6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9" name="step-digit-3">
            <a:extLst xmlns:a="http://schemas.openxmlformats.org/drawingml/2006/main">
              <a:ext uri="{FF2B5EF4-FFF2-40B4-BE49-F238E27FC236}">
                <a16:creationId xmlns:a16="http://schemas.microsoft.com/office/drawing/2014/main" id="{E929A4B0-4C03-4D9C-B970-BCBBC5A2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step-heading-3">
            <a:extLst xmlns:a="http://schemas.openxmlformats.org/drawingml/2006/main">
              <a:ext uri="{FF2B5EF4-FFF2-40B4-BE49-F238E27FC236}">
                <a16:creationId xmlns:a16="http://schemas.microsoft.com/office/drawing/2014/main" id="{11B1D68E-AF1E-4E1C-BC67-7B33E182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Organize by course</a:t>
            </a:r>
          </a:p>
        </p:txBody>
      </p:sp>
      <p:sp>
        <p:nvSpPr>
          <p:cNvPr id="21" name="step-body-3">
            <a:extLst xmlns:a="http://schemas.openxmlformats.org/drawingml/2006/main">
              <a:ext uri="{FF2B5EF4-FFF2-40B4-BE49-F238E27FC236}">
                <a16:creationId xmlns:a16="http://schemas.microsoft.com/office/drawing/2014/main" id="{BB5AEA2B-98BF-48B1-A526-8EF7160D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Keep syllabus-level exams and policies separate from assignment-level tasks and evidence.</a:t>
            </a:r>
          </a:p>
        </p:txBody>
      </p:sp>
      <p:sp>
        <p:nvSpPr>
          <p:cNvPr id="22" name="rule-720-302">
            <a:extLst xmlns:a="http://schemas.openxmlformats.org/drawingml/2006/main">
              <a:ext uri="{FF2B5EF4-FFF2-40B4-BE49-F238E27FC236}">
                <a16:creationId xmlns:a16="http://schemas.microsoft.com/office/drawing/2014/main" id="{A2B62FC3-1306-410A-BDCA-F6DA293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765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rrow-2">
            <a:extLst xmlns:a="http://schemas.openxmlformats.org/drawingml/2006/main">
              <a:ext uri="{FF2B5EF4-FFF2-40B4-BE49-F238E27FC236}">
                <a16:creationId xmlns:a16="http://schemas.microsoft.com/office/drawing/2014/main" id="{FE4DF61B-9655-4A5F-839E-26DE47BF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19400"/>
            <a:ext cx="123825" cy="1238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24" name="step-number-4">
            <a:extLst xmlns:a="http://schemas.openxmlformats.org/drawingml/2006/main">
              <a:ext uri="{FF2B5EF4-FFF2-40B4-BE49-F238E27FC236}">
                <a16:creationId xmlns:a16="http://schemas.microsoft.com/office/drawing/2014/main" id="{C19D5CB1-0139-4A0D-A63B-35AC393A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25" name="step-digit-4">
            <a:extLst xmlns:a="http://schemas.openxmlformats.org/drawingml/2006/main">
              <a:ext uri="{FF2B5EF4-FFF2-40B4-BE49-F238E27FC236}">
                <a16:creationId xmlns:a16="http://schemas.microsoft.com/office/drawing/2014/main" id="{9E36FD0C-D5F1-44D1-9E60-9A4829A5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step-heading-4">
            <a:extLst xmlns:a="http://schemas.openxmlformats.org/drawingml/2006/main">
              <a:ext uri="{FF2B5EF4-FFF2-40B4-BE49-F238E27FC236}">
                <a16:creationId xmlns:a16="http://schemas.microsoft.com/office/drawing/2014/main" id="{ED8E863B-7384-417C-A6F4-B24D5F42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Coach the work</a:t>
            </a:r>
          </a:p>
        </p:txBody>
      </p:sp>
      <p:sp>
        <p:nvSpPr>
          <p:cNvPr id="27" name="step-body-4">
            <a:extLst xmlns:a="http://schemas.openxmlformats.org/drawingml/2006/main">
              <a:ext uri="{FF2B5EF4-FFF2-40B4-BE49-F238E27FC236}">
                <a16:creationId xmlns:a16="http://schemas.microsoft.com/office/drawing/2014/main" id="{6114E65C-0E16-4441-9C4B-C31E62EB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Explain the prompt, identify missing requirements, and turn it into the next practical steps.</a:t>
            </a:r>
          </a:p>
        </p:txBody>
      </p:sp>
      <p:sp>
        <p:nvSpPr>
          <p:cNvPr id="28" name="workflow-result">
            <a:extLst xmlns:a="http://schemas.openxmlformats.org/drawingml/2006/main">
              <a:ext uri="{FF2B5EF4-FFF2-40B4-BE49-F238E27FC236}">
                <a16:creationId xmlns:a16="http://schemas.microsoft.com/office/drawing/2014/main" id="{0C6EAA92-5080-49F7-A242-FF027DDE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578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7D74"/>
                </a:solidFill>
              </a:defRPr>
            </a:pPr>
            <a:r>
              <a:rPr sz="1275" b="1">
                <a:solidFill>
                  <a:srgbClr val="2F7D74"/>
                </a:solidFill>
              </a:rPr>
              <a:t>RESULT  /  Every course becomes a living workspace instead of a folder of disconnected uploads.</a:t>
            </a:r>
          </a:p>
        </p:txBody>
      </p:sp>
    </p:spTree>
    <p:extLst>
      <p:ext uri="{BB962C8B-B14F-4D97-AF65-F5344CB8AC3E}">
        <p14:creationId xmlns:p14="http://schemas.microsoft.com/office/powerpoint/2010/main" val="248712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ection-4">
            <a:extLst xmlns:a="http://schemas.openxmlformats.org/drawingml/2006/main">
              <a:ext uri="{FF2B5EF4-FFF2-40B4-BE49-F238E27FC236}">
                <a16:creationId xmlns:a16="http://schemas.microsoft.com/office/drawing/2014/main" id="{D255139F-397E-42E7-A082-30F3BA6B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THE PRODUCT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298B0F37-BA55-4F97-94D0-12D8D058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04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14053E56-0AB3-44E0-BDFC-D9D2065D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The Coach works inside the selected assignment.">
            <a:extLst xmlns:a="http://schemas.openxmlformats.org/drawingml/2006/main">
              <a:ext uri="{FF2B5EF4-FFF2-40B4-BE49-F238E27FC236}">
                <a16:creationId xmlns:a16="http://schemas.microsoft.com/office/drawing/2014/main" id="{2DEDBAB4-F95E-4A9B-9EF5-0F934F05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The Coach works inside the selected assignment.</a:t>
            </a:r>
          </a:p>
        </p:txBody>
      </p:sp>
      <p:sp>
        <p:nvSpPr>
          <p:cNvPr id="5" name="subtitle-The Coach works inside the selected assignment.">
            <a:extLst xmlns:a="http://schemas.openxmlformats.org/drawingml/2006/main">
              <a:ext uri="{FF2B5EF4-FFF2-40B4-BE49-F238E27FC236}">
                <a16:creationId xmlns:a16="http://schemas.microsoft.com/office/drawing/2014/main" id="{E5ED00AD-0D61-430E-922A-716F109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It can see the due date, point value, extracted requirements, deliverables, and current work plan.</a:t>
            </a:r>
          </a:p>
        </p:txBody>
      </p:sp>
      <p:sp>
        <p:nvSpPr>
          <p:cNvPr id="6" name="screen-shadow">
            <a:extLst xmlns:a="http://schemas.openxmlformats.org/drawingml/2006/main">
              <a:ext uri="{FF2B5EF4-FFF2-40B4-BE49-F238E27FC236}">
                <a16:creationId xmlns:a16="http://schemas.microsoft.com/office/drawing/2014/main" id="{E68D78F3-A860-44BC-9A40-2AE8FEF5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152650"/>
            <a:ext cx="11315700" cy="417195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DDE1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320CF202-C9C9-43F7-BDCB-9B6BB693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11087100" cy="417195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f97d9e081b419c"/>
          <a:srcRect xmlns:a="http://schemas.openxmlformats.org/drawingml/2006/main" l="0" t="31595" r="0" b="315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71700"/>
            <a:ext cx="10820400" cy="3905250"/>
          </a:xfrm>
          <a:prstGeom xmlns:a="http://schemas.openxmlformats.org/drawingml/2006/main" prst="roundRect">
            <a:avLst>
              <a:gd name="adj" fmla="val 1707"/>
            </a:avLst>
          </a:prstGeom>
        </p:spPr>
      </p:pic>
      <p:sp>
        <p:nvSpPr>
          <p:cNvPr id="9" name="label-Selected assignment context-830">
            <a:extLst xmlns:a="http://schemas.openxmlformats.org/drawingml/2006/main">
              <a:ext uri="{FF2B5EF4-FFF2-40B4-BE49-F238E27FC236}">
                <a16:creationId xmlns:a16="http://schemas.microsoft.com/office/drawing/2014/main" id="{4669F1B5-3013-4BC5-A5B1-B208C275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24955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SELECTED ASSIGNMENT CONTEXT</a:t>
            </a:r>
          </a:p>
        </p:txBody>
      </p:sp>
    </p:spTree>
    <p:extLst>
      <p:ext uri="{BB962C8B-B14F-4D97-AF65-F5344CB8AC3E}">
        <p14:creationId xmlns:p14="http://schemas.microsoft.com/office/powerpoint/2010/main" val="20911934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5">
            <a:extLst xmlns:a="http://schemas.openxmlformats.org/drawingml/2006/main">
              <a:ext uri="{FF2B5EF4-FFF2-40B4-BE49-F238E27FC236}">
                <a16:creationId xmlns:a16="http://schemas.microsoft.com/office/drawing/2014/main" id="{8AEE38C8-3B16-4A3B-A124-D5C9A6E3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AI COACH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01E07254-CE11-4AF4-8F65-922A2FC0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05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AC249A6E-37B4-495C-9E07-F0A9B2F7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Grounded help, not generic chat.">
            <a:extLst xmlns:a="http://schemas.openxmlformats.org/drawingml/2006/main">
              <a:ext uri="{FF2B5EF4-FFF2-40B4-BE49-F238E27FC236}">
                <a16:creationId xmlns:a16="http://schemas.microsoft.com/office/drawing/2014/main" id="{F49F3618-F48E-4C27-B982-E1440890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Grounded help, not generic chat.</a:t>
            </a:r>
          </a:p>
        </p:txBody>
      </p:sp>
      <p:sp>
        <p:nvSpPr>
          <p:cNvPr id="5" name="subtitle-Grounded help, not generic chat.">
            <a:extLst xmlns:a="http://schemas.openxmlformats.org/drawingml/2006/main">
              <a:ext uri="{FF2B5EF4-FFF2-40B4-BE49-F238E27FC236}">
                <a16:creationId xmlns:a16="http://schemas.microsoft.com/office/drawing/2014/main" id="{43D016A7-7831-4F49-BF74-A3CD9941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Every response is structured around evidence from the selected course and a short list of next steps.</a:t>
            </a:r>
          </a:p>
        </p:txBody>
      </p:sp>
      <p:sp>
        <p:nvSpPr>
          <p:cNvPr id="6" name="coach-evidence-frame">
            <a:extLst xmlns:a="http://schemas.openxmlformats.org/drawingml/2006/main">
              <a:ext uri="{FF2B5EF4-FFF2-40B4-BE49-F238E27FC236}">
                <a16:creationId xmlns:a16="http://schemas.microsoft.com/office/drawing/2014/main" id="{93B3AC41-2977-43A0-BB86-EB58CF6D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47900"/>
            <a:ext cx="6724650" cy="388620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14dd8dfda4bb6"/>
          <a:srcRect xmlns:a="http://schemas.openxmlformats.org/drawingml/2006/main" l="0" t="21418" r="0" b="214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2381250"/>
            <a:ext cx="6457950" cy="3619500"/>
          </a:xfrm>
          <a:prstGeom xmlns:a="http://schemas.openxmlformats.org/drawingml/2006/main" prst="roundRect">
            <a:avLst>
              <a:gd name="adj" fmla="val 1842"/>
            </a:avLst>
          </a:prstGeom>
        </p:spPr>
      </p:pic>
      <p:sp>
        <p:nvSpPr>
          <p:cNvPr id="8" name="label-Explain-790">
            <a:extLst xmlns:a="http://schemas.openxmlformats.org/drawingml/2006/main">
              <a:ext uri="{FF2B5EF4-FFF2-40B4-BE49-F238E27FC236}">
                <a16:creationId xmlns:a16="http://schemas.microsoft.com/office/drawing/2014/main" id="{6F30A356-D038-4924-B94B-C524203A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1066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DCEC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7D74"/>
                </a:solidFill>
              </a:defRPr>
            </a:pPr>
            <a:r>
              <a:rPr sz="900" b="1">
                <a:solidFill>
                  <a:srgbClr val="2F7D74"/>
                </a:solidFill>
              </a:rPr>
              <a:t>EXPLAIN</a:t>
            </a:r>
          </a:p>
        </p:txBody>
      </p:sp>
      <p:sp>
        <p:nvSpPr>
          <p:cNvPr id="9" name="coach-item-0">
            <a:extLst xmlns:a="http://schemas.openxmlformats.org/drawingml/2006/main">
              <a:ext uri="{FF2B5EF4-FFF2-40B4-BE49-F238E27FC236}">
                <a16:creationId xmlns:a16="http://schemas.microsoft.com/office/drawing/2014/main" id="{2B885FD4-60D1-409E-A76C-7BE4FF61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43150"/>
            <a:ext cx="2762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Rewrites dense assignment language into a clear interpretation without inventing facts.</a:t>
            </a:r>
          </a:p>
        </p:txBody>
      </p:sp>
      <p:sp>
        <p:nvSpPr>
          <p:cNvPr id="10" name="rule-790-354">
            <a:extLst xmlns:a="http://schemas.openxmlformats.org/drawingml/2006/main">
              <a:ext uri="{FF2B5EF4-FFF2-40B4-BE49-F238E27FC236}">
                <a16:creationId xmlns:a16="http://schemas.microsoft.com/office/drawing/2014/main" id="{85C0D9A8-0AAA-4AC3-8B05-CE1C8A75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71850"/>
            <a:ext cx="407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abel-Check-790">
            <a:extLst xmlns:a="http://schemas.openxmlformats.org/drawingml/2006/main">
              <a:ext uri="{FF2B5EF4-FFF2-40B4-BE49-F238E27FC236}">
                <a16:creationId xmlns:a16="http://schemas.microsoft.com/office/drawing/2014/main" id="{32D31FA3-CA71-49EE-ACAC-A5B5B979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1066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CHECK</a:t>
            </a:r>
          </a:p>
        </p:txBody>
      </p:sp>
      <p:sp>
        <p:nvSpPr>
          <p:cNvPr id="12" name="coach-item-1">
            <a:extLst xmlns:a="http://schemas.openxmlformats.org/drawingml/2006/main">
              <a:ext uri="{FF2B5EF4-FFF2-40B4-BE49-F238E27FC236}">
                <a16:creationId xmlns:a16="http://schemas.microsoft.com/office/drawing/2014/main" id="{39014D98-7A4C-4E7B-B237-5D689D84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543300"/>
            <a:ext cx="2762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Compares the student's plan against extracted requirements, points, dates, and deliverables.</a:t>
            </a:r>
          </a:p>
        </p:txBody>
      </p:sp>
      <p:sp>
        <p:nvSpPr>
          <p:cNvPr id="13" name="rule-790-480">
            <a:extLst xmlns:a="http://schemas.openxmlformats.org/drawingml/2006/main">
              <a:ext uri="{FF2B5EF4-FFF2-40B4-BE49-F238E27FC236}">
                <a16:creationId xmlns:a16="http://schemas.microsoft.com/office/drawing/2014/main" id="{3BE68D3E-748A-48EA-8DA7-5EFB1246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72000"/>
            <a:ext cx="407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label-Plan-790">
            <a:extLst xmlns:a="http://schemas.openxmlformats.org/drawingml/2006/main">
              <a:ext uri="{FF2B5EF4-FFF2-40B4-BE49-F238E27FC236}">
                <a16:creationId xmlns:a16="http://schemas.microsoft.com/office/drawing/2014/main" id="{89E9D6C1-30CD-4288-883F-755A7156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62500"/>
            <a:ext cx="1066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DCEC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7D74"/>
                </a:solidFill>
              </a:defRPr>
            </a:pPr>
            <a:r>
              <a:rPr sz="900" b="1">
                <a:solidFill>
                  <a:srgbClr val="2F7D74"/>
                </a:solidFill>
              </a:rPr>
              <a:t>PLAN</a:t>
            </a:r>
          </a:p>
        </p:txBody>
      </p:sp>
      <p:sp>
        <p:nvSpPr>
          <p:cNvPr id="15" name="coach-item-2">
            <a:extLst xmlns:a="http://schemas.openxmlformats.org/drawingml/2006/main">
              <a:ext uri="{FF2B5EF4-FFF2-40B4-BE49-F238E27FC236}">
                <a16:creationId xmlns:a16="http://schemas.microsoft.com/office/drawing/2014/main" id="{0AB40736-A9F2-4347-A28D-681EE736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43450"/>
            <a:ext cx="2762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Recommends the next small actions and keeps the student responsible for the final assessed work.</a:t>
            </a:r>
          </a:p>
        </p:txBody>
      </p:sp>
    </p:spTree>
    <p:extLst>
      <p:ext uri="{BB962C8B-B14F-4D97-AF65-F5344CB8AC3E}">
        <p14:creationId xmlns:p14="http://schemas.microsoft.com/office/powerpoint/2010/main" val="13293925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6">
            <a:extLst xmlns:a="http://schemas.openxmlformats.org/drawingml/2006/main">
              <a:ext uri="{FF2B5EF4-FFF2-40B4-BE49-F238E27FC236}">
                <a16:creationId xmlns:a16="http://schemas.microsoft.com/office/drawing/2014/main" id="{1387D24D-8B74-4A49-80F4-75F49B49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SECURE ARCHITECTURE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D70170EB-332C-46D7-A8CB-BECDCF3F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06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CB7D1C9B-98C2-40C9-B2C2-F13867E1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The API key never enters the browser.">
            <a:extLst xmlns:a="http://schemas.openxmlformats.org/drawingml/2006/main">
              <a:ext uri="{FF2B5EF4-FFF2-40B4-BE49-F238E27FC236}">
                <a16:creationId xmlns:a16="http://schemas.microsoft.com/office/drawing/2014/main" id="{6CB4BEA3-37A1-48EE-BAC2-243417E5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The API key never enters the browser.</a:t>
            </a:r>
          </a:p>
        </p:txBody>
      </p:sp>
      <p:sp>
        <p:nvSpPr>
          <p:cNvPr id="5" name="subtitle-The API key never enters the browser.">
            <a:extLst xmlns:a="http://schemas.openxmlformats.org/drawingml/2006/main">
              <a:ext uri="{FF2B5EF4-FFF2-40B4-BE49-F238E27FC236}">
                <a16:creationId xmlns:a16="http://schemas.microsoft.com/office/drawing/2014/main" id="{6ECB1E01-100D-4876-9F9F-C3BF20E4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ClassPilot sends only bounded course context through a same-origin-aware server proxy.</a:t>
            </a:r>
          </a:p>
        </p:txBody>
      </p:sp>
      <p:sp>
        <p:nvSpPr>
          <p:cNvPr id="6" name="architecture-node-0">
            <a:extLst xmlns:a="http://schemas.openxmlformats.org/drawingml/2006/main">
              <a:ext uri="{FF2B5EF4-FFF2-40B4-BE49-F238E27FC236}">
                <a16:creationId xmlns:a16="http://schemas.microsoft.com/office/drawing/2014/main" id="{1AF8DCEE-A280-4952-B776-AD635192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324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7" name="architecture-index-0">
            <a:extLst xmlns:a="http://schemas.openxmlformats.org/drawingml/2006/main">
              <a:ext uri="{FF2B5EF4-FFF2-40B4-BE49-F238E27FC236}">
                <a16:creationId xmlns:a16="http://schemas.microsoft.com/office/drawing/2014/main" id="{7F4F4508-83A4-4776-878F-9B2FF9A0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01</a:t>
            </a:r>
          </a:p>
        </p:txBody>
      </p:sp>
      <p:sp>
        <p:nvSpPr>
          <p:cNvPr id="8" name="architecture-title-0">
            <a:extLst xmlns:a="http://schemas.openxmlformats.org/drawingml/2006/main">
              <a:ext uri="{FF2B5EF4-FFF2-40B4-BE49-F238E27FC236}">
                <a16:creationId xmlns:a16="http://schemas.microsoft.com/office/drawing/2014/main" id="{8B1E5A1A-8376-4114-853F-25948AF2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Browser</a:t>
            </a:r>
          </a:p>
        </p:txBody>
      </p:sp>
      <p:sp>
        <p:nvSpPr>
          <p:cNvPr id="9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FD7D3DAE-B14F-440F-98FE-4B599F24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Local course data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and conversations</a:t>
            </a:r>
          </a:p>
        </p:txBody>
      </p:sp>
      <p:sp>
        <p:nvSpPr>
          <p:cNvPr id="10" name="rule-298-378">
            <a:extLst xmlns:a="http://schemas.openxmlformats.org/drawingml/2006/main">
              <a:ext uri="{FF2B5EF4-FFF2-40B4-BE49-F238E27FC236}">
                <a16:creationId xmlns:a16="http://schemas.microsoft.com/office/drawing/2014/main" id="{5E040FC9-584A-40B6-AAF4-16F78645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004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arrow-0">
            <a:extLst xmlns:a="http://schemas.openxmlformats.org/drawingml/2006/main">
              <a:ext uri="{FF2B5EF4-FFF2-40B4-BE49-F238E27FC236}">
                <a16:creationId xmlns:a16="http://schemas.microsoft.com/office/drawing/2014/main" id="{CD9454BE-5A50-4217-9392-72649597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5242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12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C1E78952-52CF-4398-8522-78CC32F1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0"/>
            <a:ext cx="2324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3" name="architecture-index-1">
            <a:extLst xmlns:a="http://schemas.openxmlformats.org/drawingml/2006/main">
              <a:ext uri="{FF2B5EF4-FFF2-40B4-BE49-F238E27FC236}">
                <a16:creationId xmlns:a16="http://schemas.microsoft.com/office/drawing/2014/main" id="{DF782656-C1B4-4C27-8405-8CB944D6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02</a:t>
            </a:r>
          </a:p>
        </p:txBody>
      </p:sp>
      <p:sp>
        <p:nvSpPr>
          <p:cNvPr id="14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E9A16CCE-7B0C-4B7E-AB85-6F55C73B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38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Context builder</a:t>
            </a:r>
          </a:p>
        </p:txBody>
      </p:sp>
      <p:sp>
        <p:nvSpPr>
          <p:cNvPr id="15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A00F7F67-7652-400B-A2EE-924B0C2C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2905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Selected course +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selected assignment</a:t>
            </a:r>
          </a:p>
        </p:txBody>
      </p:sp>
      <p:sp>
        <p:nvSpPr>
          <p:cNvPr id="16" name="rule-600-378">
            <a:extLst xmlns:a="http://schemas.openxmlformats.org/drawingml/2006/main">
              <a:ext uri="{FF2B5EF4-FFF2-40B4-BE49-F238E27FC236}">
                <a16:creationId xmlns:a16="http://schemas.microsoft.com/office/drawing/2014/main" id="{1366AB38-EDB1-4CC9-A503-108B2576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F9E35220-7839-440A-8179-7C5C1358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18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C6C6035D-A055-451C-889A-9B678029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2324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1C22"/>
          </a:solidFill>
          <a:ln xmlns:a="http://schemas.openxmlformats.org/drawingml/2006/main" w="9525">
            <a:solidFill>
              <a:srgbClr val="141C22"/>
            </a:solidFill>
            <a:prstDash val="solid"/>
          </a:ln>
        </p:spPr>
      </p:sp>
      <p:sp>
        <p:nvSpPr>
          <p:cNvPr id="19" name="architecture-index-2">
            <a:extLst xmlns:a="http://schemas.openxmlformats.org/drawingml/2006/main">
              <a:ext uri="{FF2B5EF4-FFF2-40B4-BE49-F238E27FC236}">
                <a16:creationId xmlns:a16="http://schemas.microsoft.com/office/drawing/2014/main" id="{CF7CA7E7-8A1A-421C-BE23-52437E2A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A63F"/>
                </a:solidFill>
              </a:defRPr>
            </a:pPr>
            <a:r>
              <a:rPr sz="975" b="1">
                <a:solidFill>
                  <a:srgbClr val="C9A63F"/>
                </a:solidFill>
              </a:rPr>
              <a:t>03</a:t>
            </a:r>
          </a:p>
        </p:txBody>
      </p:sp>
      <p:sp>
        <p:nvSpPr>
          <p:cNvPr id="20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44856E4A-E705-45C7-A970-D385680D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Secure Worker</a:t>
            </a:r>
          </a:p>
        </p:txBody>
      </p:sp>
      <p:sp>
        <p:nvSpPr>
          <p:cNvPr id="21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E0B94866-A7D9-41C2-B14F-7B0E9424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2905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2D5"/>
                </a:solidFill>
              </a:defRPr>
            </a:pPr>
            <a:r>
              <a:rPr sz="1275" b="0">
                <a:solidFill>
                  <a:srgbClr val="CBD2D5"/>
                </a:solidFill>
              </a:rPr>
              <a:t>CORS, validation,</a:t>
            </a:r>
          </a:p>
          <a:p xmlns:a="http://schemas.openxmlformats.org/drawingml/2006/main">
            <a:pPr algn="l">
              <a:defRPr sz="1275" b="0">
                <a:solidFill>
                  <a:srgbClr val="CBD2D5"/>
                </a:solidFill>
              </a:defRPr>
            </a:pPr>
            <a:r>
              <a:rPr sz="1275" b="0">
                <a:solidFill>
                  <a:srgbClr val="CBD2D5"/>
                </a:solidFill>
              </a:rPr>
              <a:t>rate limiting</a:t>
            </a:r>
          </a:p>
        </p:txBody>
      </p:sp>
      <p:sp>
        <p:nvSpPr>
          <p:cNvPr id="22" name="rule-902-378">
            <a:extLst xmlns:a="http://schemas.openxmlformats.org/drawingml/2006/main">
              <a:ext uri="{FF2B5EF4-FFF2-40B4-BE49-F238E27FC236}">
                <a16:creationId xmlns:a16="http://schemas.microsoft.com/office/drawing/2014/main" id="{E6E1C651-806E-4A3C-A604-70C96B60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6004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9FA000B4-2982-4160-97A8-5F8B5065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5242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24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68856248-6A19-4569-B99A-53291993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324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25" name="architecture-index-3">
            <a:extLst xmlns:a="http://schemas.openxmlformats.org/drawingml/2006/main">
              <a:ext uri="{FF2B5EF4-FFF2-40B4-BE49-F238E27FC236}">
                <a16:creationId xmlns:a16="http://schemas.microsoft.com/office/drawing/2014/main" id="{E356C3F5-B69A-490F-BF1D-78CFFA15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04</a:t>
            </a:r>
          </a:p>
        </p:txBody>
      </p:sp>
      <p:sp>
        <p:nvSpPr>
          <p:cNvPr id="26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94CB77D7-610E-43D0-9498-960FCDE0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38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AI response</a:t>
            </a:r>
          </a:p>
        </p:txBody>
      </p:sp>
      <p:sp>
        <p:nvSpPr>
          <p:cNvPr id="27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3ECC4E57-89E0-42FA-8C12-BEC94C40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2905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Structured answer,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evidence, next steps</a:t>
            </a:r>
          </a:p>
        </p:txBody>
      </p:sp>
      <p:sp>
        <p:nvSpPr>
          <p:cNvPr id="28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CB5A5957-E65D-4AB6-87C2-7B9F0EBB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38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Production mode uses the OpenAI Responses API with server-side secrets. Explicit Mock mode remains available for deterministic UI testing.</a:t>
            </a:r>
          </a:p>
        </p:txBody>
      </p:sp>
    </p:spTree>
    <p:extLst>
      <p:ext uri="{BB962C8B-B14F-4D97-AF65-F5344CB8AC3E}">
        <p14:creationId xmlns:p14="http://schemas.microsoft.com/office/powerpoint/2010/main" val="17336119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ection-7">
            <a:extLst xmlns:a="http://schemas.openxmlformats.org/drawingml/2006/main">
              <a:ext uri="{FF2B5EF4-FFF2-40B4-BE49-F238E27FC236}">
                <a16:creationId xmlns:a16="http://schemas.microsoft.com/office/drawing/2014/main" id="{08F8EFFB-D684-4B69-B69D-80D46909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TRUST BY DESIGN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A8ED8BD4-43FE-4789-94F6-A8844669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07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F9DCC29E-CBAA-4A82-80D0-AA2F9BF3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Help students do the work. Do not do it for them.">
            <a:extLst xmlns:a="http://schemas.openxmlformats.org/drawingml/2006/main">
              <a:ext uri="{FF2B5EF4-FFF2-40B4-BE49-F238E27FC236}">
                <a16:creationId xmlns:a16="http://schemas.microsoft.com/office/drawing/2014/main" id="{139B5F08-5405-4EBA-B785-99A2D204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Help students do the work. Do not do it for them.</a:t>
            </a:r>
          </a:p>
        </p:txBody>
      </p:sp>
      <p:sp>
        <p:nvSpPr>
          <p:cNvPr id="5" name="subtitle-Help students do the work. Do not do it for them.">
            <a:extLst xmlns:a="http://schemas.openxmlformats.org/drawingml/2006/main">
              <a:ext uri="{FF2B5EF4-FFF2-40B4-BE49-F238E27FC236}">
                <a16:creationId xmlns:a16="http://schemas.microsoft.com/office/drawing/2014/main" id="{60957D8F-791E-4CFD-B350-BB469DB6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The Coach is designed as a study partner with explicit academic-integrity and privacy boundaries.</a:t>
            </a:r>
          </a:p>
        </p:txBody>
      </p:sp>
      <p:sp>
        <p:nvSpPr>
          <p:cNvPr id="6" name="integrity-do-title">
            <a:extLst xmlns:a="http://schemas.openxmlformats.org/drawingml/2006/main">
              <a:ext uri="{FF2B5EF4-FFF2-40B4-BE49-F238E27FC236}">
                <a16:creationId xmlns:a16="http://schemas.microsoft.com/office/drawing/2014/main" id="{FE73EE0E-9DEB-4917-A6C1-1D9D20A7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THE COACH CAN</a:t>
            </a:r>
          </a:p>
        </p:txBody>
      </p:sp>
      <p:sp>
        <p:nvSpPr>
          <p:cNvPr id="7" name="integrity-dont-title">
            <a:extLst xmlns:a="http://schemas.openxmlformats.org/drawingml/2006/main">
              <a:ext uri="{FF2B5EF4-FFF2-40B4-BE49-F238E27FC236}">
                <a16:creationId xmlns:a16="http://schemas.microsoft.com/office/drawing/2014/main" id="{9BC5B724-27DE-496E-8651-BFFEA1D6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504A"/>
                </a:solidFill>
              </a:defRPr>
            </a:pPr>
            <a:r>
              <a:rPr sz="1050" b="1">
                <a:solidFill>
                  <a:srgbClr val="B9504A"/>
                </a:solidFill>
              </a:rPr>
              <a:t>THE COACH WILL NOT</a:t>
            </a:r>
          </a:p>
        </p:txBody>
      </p:sp>
      <p:sp>
        <p:nvSpPr>
          <p:cNvPr id="8" name="can-dot-0">
            <a:extLst xmlns:a="http://schemas.openxmlformats.org/drawingml/2006/main">
              <a:ext uri="{FF2B5EF4-FFF2-40B4-BE49-F238E27FC236}">
                <a16:creationId xmlns:a16="http://schemas.microsoft.com/office/drawing/2014/main" id="{DF4EB4C4-F2F8-4B29-86B7-09DD6E09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9" name="can-0">
            <a:extLst xmlns:a="http://schemas.openxmlformats.org/drawingml/2006/main">
              <a:ext uri="{FF2B5EF4-FFF2-40B4-BE49-F238E27FC236}">
                <a16:creationId xmlns:a16="http://schemas.microsoft.com/office/drawing/2014/main" id="{41A3F67E-6EDD-451F-9A1B-3D304E28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Explain assignment language</a:t>
            </a:r>
          </a:p>
        </p:txBody>
      </p:sp>
      <p:sp>
        <p:nvSpPr>
          <p:cNvPr id="10" name="can-dot-1">
            <a:extLst xmlns:a="http://schemas.openxmlformats.org/drawingml/2006/main">
              <a:ext uri="{FF2B5EF4-FFF2-40B4-BE49-F238E27FC236}">
                <a16:creationId xmlns:a16="http://schemas.microsoft.com/office/drawing/2014/main" id="{2B8B4598-507F-4D8B-987A-91D8641E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14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1" name="can-1">
            <a:extLst xmlns:a="http://schemas.openxmlformats.org/drawingml/2006/main">
              <a:ext uri="{FF2B5EF4-FFF2-40B4-BE49-F238E27FC236}">
                <a16:creationId xmlns:a16="http://schemas.microsoft.com/office/drawing/2014/main" id="{1EEE4C3A-C993-4B99-8815-0FAE674E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Identify requirements and gaps</a:t>
            </a:r>
          </a:p>
        </p:txBody>
      </p:sp>
      <p:sp>
        <p:nvSpPr>
          <p:cNvPr id="12" name="can-dot-2">
            <a:extLst xmlns:a="http://schemas.openxmlformats.org/drawingml/2006/main">
              <a:ext uri="{FF2B5EF4-FFF2-40B4-BE49-F238E27FC236}">
                <a16:creationId xmlns:a16="http://schemas.microsoft.com/office/drawing/2014/main" id="{DA85F919-9B24-438E-9DFC-CE0BA4F5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43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3" name="can-2">
            <a:extLst xmlns:a="http://schemas.openxmlformats.org/drawingml/2006/main">
              <a:ext uri="{FF2B5EF4-FFF2-40B4-BE49-F238E27FC236}">
                <a16:creationId xmlns:a16="http://schemas.microsoft.com/office/drawing/2014/main" id="{D22AD4E2-3014-4D6B-A048-AF3A3C05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Suggest a sequence of next steps</a:t>
            </a:r>
          </a:p>
        </p:txBody>
      </p:sp>
      <p:sp>
        <p:nvSpPr>
          <p:cNvPr id="14" name="can-dot-3">
            <a:extLst xmlns:a="http://schemas.openxmlformats.org/drawingml/2006/main">
              <a:ext uri="{FF2B5EF4-FFF2-40B4-BE49-F238E27FC236}">
                <a16:creationId xmlns:a16="http://schemas.microsoft.com/office/drawing/2014/main" id="{64EEF6A3-C497-42B4-95B9-77BFED96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72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5" name="can-3">
            <a:extLst xmlns:a="http://schemas.openxmlformats.org/drawingml/2006/main">
              <a:ext uri="{FF2B5EF4-FFF2-40B4-BE49-F238E27FC236}">
                <a16:creationId xmlns:a16="http://schemas.microsoft.com/office/drawing/2014/main" id="{02D3A15D-3AFB-43DF-A257-4B1250F9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Ground answers in uploaded evidence</a:t>
            </a:r>
          </a:p>
        </p:txBody>
      </p:sp>
      <p:sp>
        <p:nvSpPr>
          <p:cNvPr id="16" name="cannot-mark-0">
            <a:extLst xmlns:a="http://schemas.openxmlformats.org/drawingml/2006/main">
              <a:ext uri="{FF2B5EF4-FFF2-40B4-BE49-F238E27FC236}">
                <a16:creationId xmlns:a16="http://schemas.microsoft.com/office/drawing/2014/main" id="{C7BC0758-AE17-4598-99FD-E4D05CAA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861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04A"/>
          </a:solidFill>
          <a:ln xmlns:a="http://schemas.openxmlformats.org/drawingml/2006/main" w="9525">
            <a:solidFill>
              <a:srgbClr val="B9504A"/>
            </a:solidFill>
            <a:prstDash val="solid"/>
          </a:ln>
        </p:spPr>
      </p:sp>
      <p:sp>
        <p:nvSpPr>
          <p:cNvPr id="17" name="cannot-0">
            <a:extLst xmlns:a="http://schemas.openxmlformats.org/drawingml/2006/main">
              <a:ext uri="{FF2B5EF4-FFF2-40B4-BE49-F238E27FC236}">
                <a16:creationId xmlns:a16="http://schemas.microsoft.com/office/drawing/2014/main" id="{B9FABEB1-FA09-4396-A441-5AEC56B2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Invent missing course facts</a:t>
            </a:r>
          </a:p>
        </p:txBody>
      </p:sp>
      <p:sp>
        <p:nvSpPr>
          <p:cNvPr id="18" name="cannot-mark-1">
            <a:extLst xmlns:a="http://schemas.openxmlformats.org/drawingml/2006/main">
              <a:ext uri="{FF2B5EF4-FFF2-40B4-BE49-F238E27FC236}">
                <a16:creationId xmlns:a16="http://schemas.microsoft.com/office/drawing/2014/main" id="{93CDA18B-B1F2-49F3-8EB5-87B8A63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04A"/>
          </a:solidFill>
          <a:ln xmlns:a="http://schemas.openxmlformats.org/drawingml/2006/main" w="9525">
            <a:solidFill>
              <a:srgbClr val="B9504A"/>
            </a:solidFill>
            <a:prstDash val="solid"/>
          </a:ln>
        </p:spPr>
      </p:sp>
      <p:sp>
        <p:nvSpPr>
          <p:cNvPr id="19" name="cannot-1">
            <a:extLst xmlns:a="http://schemas.openxmlformats.org/drawingml/2006/main">
              <a:ext uri="{FF2B5EF4-FFF2-40B4-BE49-F238E27FC236}">
                <a16:creationId xmlns:a16="http://schemas.microsoft.com/office/drawing/2014/main" id="{02782978-AE1F-412E-A298-8499872E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385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Write a complete assessed submission</a:t>
            </a:r>
          </a:p>
        </p:txBody>
      </p:sp>
      <p:sp>
        <p:nvSpPr>
          <p:cNvPr id="20" name="cannot-mark-2">
            <a:extLst xmlns:a="http://schemas.openxmlformats.org/drawingml/2006/main">
              <a:ext uri="{FF2B5EF4-FFF2-40B4-BE49-F238E27FC236}">
                <a16:creationId xmlns:a16="http://schemas.microsoft.com/office/drawing/2014/main" id="{2A2621C7-349E-4240-8156-F199CBC4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434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04A"/>
          </a:solidFill>
          <a:ln xmlns:a="http://schemas.openxmlformats.org/drawingml/2006/main" w="9525">
            <a:solidFill>
              <a:srgbClr val="B9504A"/>
            </a:solidFill>
            <a:prstDash val="solid"/>
          </a:ln>
        </p:spPr>
      </p:sp>
      <p:sp>
        <p:nvSpPr>
          <p:cNvPr id="21" name="cannot-2">
            <a:extLst xmlns:a="http://schemas.openxmlformats.org/drawingml/2006/main">
              <a:ext uri="{FF2B5EF4-FFF2-40B4-BE49-F238E27FC236}">
                <a16:creationId xmlns:a16="http://schemas.microsoft.com/office/drawing/2014/main" id="{DDB41FD3-97A7-4F2E-99C7-9DB0EF11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Send unrelated courses by default</a:t>
            </a:r>
          </a:p>
        </p:txBody>
      </p:sp>
      <p:sp>
        <p:nvSpPr>
          <p:cNvPr id="22" name="cannot-mark-3">
            <a:extLst xmlns:a="http://schemas.openxmlformats.org/drawingml/2006/main">
              <a:ext uri="{FF2B5EF4-FFF2-40B4-BE49-F238E27FC236}">
                <a16:creationId xmlns:a16="http://schemas.microsoft.com/office/drawing/2014/main" id="{130264F3-736C-4FA3-BBA8-C013DCE3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720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04A"/>
          </a:solidFill>
          <a:ln xmlns:a="http://schemas.openxmlformats.org/drawingml/2006/main" w="9525">
            <a:solidFill>
              <a:srgbClr val="B9504A"/>
            </a:solidFill>
            <a:prstDash val="solid"/>
          </a:ln>
        </p:spPr>
      </p:sp>
      <p:sp>
        <p:nvSpPr>
          <p:cNvPr id="23" name="cannot-3">
            <a:extLst xmlns:a="http://schemas.openxmlformats.org/drawingml/2006/main">
              <a:ext uri="{FF2B5EF4-FFF2-40B4-BE49-F238E27FC236}">
                <a16:creationId xmlns:a16="http://schemas.microsoft.com/office/drawing/2014/main" id="{27E68DF9-9A3D-46AE-95B5-F1646CB0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958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1C22"/>
                </a:solidFill>
              </a:defRPr>
            </a:pPr>
            <a:r>
              <a:rPr sz="1575" b="0">
                <a:solidFill>
                  <a:srgbClr val="141C22"/>
                </a:solidFill>
              </a:rPr>
              <a:t>Expose an API secret in client code</a:t>
            </a:r>
          </a:p>
        </p:txBody>
      </p:sp>
      <p:sp>
        <p:nvSpPr>
          <p:cNvPr id="24" name="privacy-band">
            <a:extLst xmlns:a="http://schemas.openxmlformats.org/drawingml/2006/main">
              <a:ext uri="{FF2B5EF4-FFF2-40B4-BE49-F238E27FC236}">
                <a16:creationId xmlns:a16="http://schemas.microsoft.com/office/drawing/2014/main" id="{390D7CEE-3B87-42CB-A74A-0294F94D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91200"/>
            <a:ext cx="10820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C22"/>
          </a:solidFill>
          <a:ln xmlns:a="http://schemas.openxmlformats.org/drawingml/2006/main" w="9525">
            <a:solidFill>
              <a:srgbClr val="141C22"/>
            </a:solidFill>
            <a:prstDash val="solid"/>
          </a:ln>
        </p:spPr>
      </p:sp>
      <p:sp>
        <p:nvSpPr>
          <p:cNvPr id="25" name="privacy-band-text">
            <a:extLst xmlns:a="http://schemas.openxmlformats.org/drawingml/2006/main">
              <a:ext uri="{FF2B5EF4-FFF2-40B4-BE49-F238E27FC236}">
                <a16:creationId xmlns:a16="http://schemas.microsoft.com/office/drawing/2014/main" id="{23282841-BBAC-4BFB-B715-937F4C17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Selected course context is sent only when the student asks; conversations remain scoped to that course and assignment.</a:t>
            </a:r>
          </a:p>
        </p:txBody>
      </p:sp>
    </p:spTree>
    <p:extLst>
      <p:ext uri="{BB962C8B-B14F-4D97-AF65-F5344CB8AC3E}">
        <p14:creationId xmlns:p14="http://schemas.microsoft.com/office/powerpoint/2010/main" val="15434764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8">
            <a:extLst xmlns:a="http://schemas.openxmlformats.org/drawingml/2006/main">
              <a:ext uri="{FF2B5EF4-FFF2-40B4-BE49-F238E27FC236}">
                <a16:creationId xmlns:a16="http://schemas.microsoft.com/office/drawing/2014/main" id="{3F8D2E38-B18D-47B3-ADA7-078FAB6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VALIDATION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D7CCDD56-34BE-46CF-8516-027C2029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08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75FC1BED-D434-4D82-BBF4-CFAD1532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Built like a product, verified like one.">
            <a:extLst xmlns:a="http://schemas.openxmlformats.org/drawingml/2006/main">
              <a:ext uri="{FF2B5EF4-FFF2-40B4-BE49-F238E27FC236}">
                <a16:creationId xmlns:a16="http://schemas.microsoft.com/office/drawing/2014/main" id="{9A9F28FD-3733-47F0-B55B-B1412F3C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Built like a product, verified like one.</a:t>
            </a:r>
          </a:p>
        </p:txBody>
      </p:sp>
      <p:sp>
        <p:nvSpPr>
          <p:cNvPr id="5" name="subtitle-Built like a product, verified like one.">
            <a:extLst xmlns:a="http://schemas.openxmlformats.org/drawingml/2006/main">
              <a:ext uri="{FF2B5EF4-FFF2-40B4-BE49-F238E27FC236}">
                <a16:creationId xmlns:a16="http://schemas.microsoft.com/office/drawing/2014/main" id="{FC8550C2-17CF-48CB-972E-B1ECC101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Automated contracts cover parsing, OCR normalization, course binding, Coach context, UI behavior, and backend security.</a:t>
            </a:r>
          </a:p>
        </p:txBody>
      </p:sp>
      <p:sp>
        <p:nvSpPr>
          <p:cNvPr id="6" name="stat-0">
            <a:extLst xmlns:a="http://schemas.openxmlformats.org/drawingml/2006/main">
              <a:ext uri="{FF2B5EF4-FFF2-40B4-BE49-F238E27FC236}">
                <a16:creationId xmlns:a16="http://schemas.microsoft.com/office/drawing/2014/main" id="{F325C00D-26A4-4F45-B2A2-E647E94D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7" name="stat-value-0">
            <a:extLst xmlns:a="http://schemas.openxmlformats.org/drawingml/2006/main">
              <a:ext uri="{FF2B5EF4-FFF2-40B4-BE49-F238E27FC236}">
                <a16:creationId xmlns:a16="http://schemas.microsoft.com/office/drawing/2014/main" id="{83985625-7AE2-494F-983D-8C40FEFB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F7D74"/>
                </a:solidFill>
              </a:defRPr>
            </a:pPr>
            <a:r>
              <a:rPr sz="3225" b="1">
                <a:solidFill>
                  <a:srgbClr val="2F7D74"/>
                </a:solidFill>
              </a:rPr>
              <a:t>292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2EE80C63-E367-4400-B48C-9E38CB4F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automated tests passing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BF74396F-702E-49DF-BE8C-EE069CBD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146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0" name="stat-value-1">
            <a:extLst xmlns:a="http://schemas.openxmlformats.org/drawingml/2006/main">
              <a:ext uri="{FF2B5EF4-FFF2-40B4-BE49-F238E27FC236}">
                <a16:creationId xmlns:a16="http://schemas.microsoft.com/office/drawing/2014/main" id="{C0E74035-5521-4B66-8E84-C60403CC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6700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0</a:t>
            </a:r>
          </a:p>
        </p:txBody>
      </p:sp>
      <p:sp>
        <p:nvSpPr>
          <p:cNvPr id="11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057F63EF-021A-4BB2-92D7-BCC9DBBB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3850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browser console errors</a:t>
            </a:r>
          </a:p>
        </p:txBody>
      </p:sp>
      <p:sp>
        <p:nvSpPr>
          <p:cNvPr id="12" name="stat-2">
            <a:extLst xmlns:a="http://schemas.openxmlformats.org/drawingml/2006/main">
              <a:ext uri="{FF2B5EF4-FFF2-40B4-BE49-F238E27FC236}">
                <a16:creationId xmlns:a16="http://schemas.microsoft.com/office/drawing/2014/main" id="{F27A90D8-270B-4257-8EFE-E209A50D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146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3" name="stat-value-2">
            <a:extLst xmlns:a="http://schemas.openxmlformats.org/drawingml/2006/main">
              <a:ext uri="{FF2B5EF4-FFF2-40B4-BE49-F238E27FC236}">
                <a16:creationId xmlns:a16="http://schemas.microsoft.com/office/drawing/2014/main" id="{5755B259-071E-49A3-B861-65B26001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6700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2</a:t>
            </a:r>
          </a:p>
        </p:txBody>
      </p:sp>
      <p:sp>
        <p:nvSpPr>
          <p:cNvPr id="14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2C9A38E3-1A83-4AB9-BD4E-014176C4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3850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responsive viewports checked</a:t>
            </a:r>
          </a:p>
        </p:txBody>
      </p:sp>
      <p:sp>
        <p:nvSpPr>
          <p:cNvPr id="15" name="validation-list">
            <a:extLst xmlns:a="http://schemas.openxmlformats.org/drawingml/2006/main">
              <a:ext uri="{FF2B5EF4-FFF2-40B4-BE49-F238E27FC236}">
                <a16:creationId xmlns:a16="http://schemas.microsoft.com/office/drawing/2014/main" id="{76C8D152-1326-445F-B8E4-A8CD8C3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4953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VERIFIED 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Canvas screenshots → exact title, due date, points, status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Syllabus uploads → course-level dates and policies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Assignment imports → requirements, deliverables, work plan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Coach → isolated context, quick actions, custom questions</a:t>
            </a:r>
          </a:p>
        </p:txBody>
      </p:sp>
      <p:sp>
        <p:nvSpPr>
          <p:cNvPr id="16" name="mobile-frame">
            <a:extLst xmlns:a="http://schemas.openxmlformats.org/drawingml/2006/main">
              <a:ext uri="{FF2B5EF4-FFF2-40B4-BE49-F238E27FC236}">
                <a16:creationId xmlns:a16="http://schemas.microsoft.com/office/drawing/2014/main" id="{68CF0D75-8B23-4673-A171-1D1517BB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71700"/>
            <a:ext cx="2781300" cy="43243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141C22"/>
          </a:solidFill>
          <a:ln xmlns:a="http://schemas.openxmlformats.org/drawingml/2006/main" w="9525">
            <a:solidFill>
              <a:srgbClr val="141C22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88655835f45bf"/>
          <a:srcRect xmlns:a="http://schemas.openxmlformats.org/drawingml/2006/main" l="0" t="30589" r="0" b="305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1900" y="2305050"/>
            <a:ext cx="2514600" cy="4057650"/>
          </a:xfrm>
          <a:prstGeom xmlns:a="http://schemas.openxmlformats.org/drawingml/2006/main" prst="roundRect">
            <a:avLst>
              <a:gd name="adj" fmla="val 2652"/>
            </a:avLst>
          </a:prstGeom>
        </p:spPr>
      </p:pic>
      <p:sp>
        <p:nvSpPr>
          <p:cNvPr id="18" name="label-Mobile QA-1090">
            <a:extLst xmlns:a="http://schemas.openxmlformats.org/drawingml/2006/main">
              <a:ext uri="{FF2B5EF4-FFF2-40B4-BE49-F238E27FC236}">
                <a16:creationId xmlns:a16="http://schemas.microsoft.com/office/drawing/2014/main" id="{AD5F8565-3833-413F-A7C5-32A7ABE5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71750"/>
            <a:ext cx="1200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MOBILE QA</a:t>
            </a:r>
          </a:p>
        </p:txBody>
      </p:sp>
      <p:sp>
        <p:nvSpPr>
          <p:cNvPr id="19" name="mobile-callout">
            <a:extLst xmlns:a="http://schemas.openxmlformats.org/drawingml/2006/main">
              <a:ext uri="{FF2B5EF4-FFF2-40B4-BE49-F238E27FC236}">
                <a16:creationId xmlns:a16="http://schemas.microsoft.com/office/drawing/2014/main" id="{943D0383-2447-4B25-81D5-A471F207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67050"/>
            <a:ext cx="12763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No horizontal overflow at 390 × 844. Controls remain readable and touch-friendly.</a:t>
            </a:r>
          </a:p>
        </p:txBody>
      </p:sp>
    </p:spTree>
    <p:extLst>
      <p:ext uri="{BB962C8B-B14F-4D97-AF65-F5344CB8AC3E}">
        <p14:creationId xmlns:p14="http://schemas.microsoft.com/office/powerpoint/2010/main" val="18798939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41C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AE377890-D300-4983-AF26-CCCA520C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63F"/>
                </a:solidFill>
              </a:defRPr>
            </a:pPr>
            <a:r>
              <a:rPr sz="1050" b="1">
                <a:solidFill>
                  <a:srgbClr val="C9A63F"/>
                </a:solidFill>
              </a:rPr>
              <a:t>CLASS PILOT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0438FB4-20D2-4A52-A8D3-4DECC0CA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676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One upload.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One organized course.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One clear next step.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F8D006DA-C93D-4308-ADFB-C6BCDAD3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647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AD1D4"/>
                </a:solidFill>
              </a:defRPr>
            </a:pPr>
            <a:r>
              <a:rPr sz="1650" b="0">
                <a:solidFill>
                  <a:srgbClr val="CAD1D4"/>
                </a:solidFill>
              </a:rPr>
              <a:t>A private, evidence-grounded academic workspace designed around the student's actual course materials.</a:t>
            </a:r>
          </a:p>
        </p:txBody>
      </p:sp>
      <p:sp>
        <p:nvSpPr>
          <p:cNvPr id="4" name="close-link">
            <a:extLst xmlns:a="http://schemas.openxmlformats.org/drawingml/2006/main">
              <a:ext uri="{FF2B5EF4-FFF2-40B4-BE49-F238E27FC236}">
                <a16:creationId xmlns:a16="http://schemas.microsoft.com/office/drawing/2014/main" id="{1A9722AA-1F79-43B0-B00E-F22CBA66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00300"/>
            <a:ext cx="3524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5" name="close-link-label">
            <a:extLst xmlns:a="http://schemas.openxmlformats.org/drawingml/2006/main">
              <a:ext uri="{FF2B5EF4-FFF2-40B4-BE49-F238E27FC236}">
                <a16:creationId xmlns:a16="http://schemas.microsoft.com/office/drawing/2014/main" id="{85936440-99ED-4A84-AA12-E0B6853C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2EEDC"/>
                </a:solidFill>
              </a:defRPr>
            </a:pPr>
            <a:r>
              <a:rPr sz="975" b="1">
                <a:solidFill>
                  <a:srgbClr val="F2EEDC"/>
                </a:solidFill>
              </a:rPr>
              <a:t>LIVE PRODUCT</a:t>
            </a:r>
          </a:p>
        </p:txBody>
      </p:sp>
      <p:sp>
        <p:nvSpPr>
          <p:cNvPr id="6" name="close-link-url">
            <a:extLst xmlns:a="http://schemas.openxmlformats.org/drawingml/2006/main">
              <a:ext uri="{FF2B5EF4-FFF2-40B4-BE49-F238E27FC236}">
                <a16:creationId xmlns:a16="http://schemas.microsoft.com/office/drawing/2014/main" id="{0308A696-BF60-49E9-8AD7-BEA6A4EF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cngei2.github.io/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classpilot-ai-website/</a:t>
            </a:r>
          </a:p>
        </p:txBody>
      </p:sp>
      <p:sp>
        <p:nvSpPr>
          <p:cNvPr id="7" name="close-note">
            <a:extLst xmlns:a="http://schemas.openxmlformats.org/drawingml/2006/main">
              <a:ext uri="{FF2B5EF4-FFF2-40B4-BE49-F238E27FC236}">
                <a16:creationId xmlns:a16="http://schemas.microsoft.com/office/drawing/2014/main" id="{1088610C-3C7A-49AF-B9B0-B7A7DCAC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62400"/>
            <a:ext cx="3524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AD1D4"/>
                </a:solidFill>
              </a:defRPr>
            </a:pPr>
            <a:r>
              <a:rPr sz="1275" b="0">
                <a:solidFill>
                  <a:srgbClr val="CAD1D4"/>
                </a:solidFill>
              </a:rPr>
              <a:t>Real-time AI responses activate when a server-side OpenAI API secret is configured. Mock mode remains available for deterministic testing.</a:t>
            </a:r>
          </a:p>
        </p:txBody>
      </p:sp>
    </p:spTree>
    <p:extLst>
      <p:ext uri="{BB962C8B-B14F-4D97-AF65-F5344CB8AC3E}">
        <p14:creationId xmlns:p14="http://schemas.microsoft.com/office/powerpoint/2010/main" val="5896914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2026-07-25T22:31:09.8400000Z</dcterms:created>
  <dcterms:modified xsi:type="dcterms:W3CDTF">2026-07-25T22:31:09.8400000Z</dcterms:modified>
</coreProperties>
</file>