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775b43ed84514" /><Relationship Type="http://schemas.openxmlformats.org/officeDocument/2006/relationships/extended-properties" Target="/docProps/app.xml" Id="R4a9b44f1a97f4141" /><Relationship Type="http://schemas.openxmlformats.org/officeDocument/2006/relationships/officeDocument" Target="/ppt/presentation.xml" Id="R0da90b55b9c14a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c006ba7914c27"/>
  </p:sldMasterIdLst>
  <p:notesMasterIdLst>
    <p:notesMasterId xmlns:r="http://schemas.openxmlformats.org/officeDocument/2006/relationships" r:id="Ra4b9cefdc6064f7f"/>
  </p:notesMasterIdLst>
  <p:sldIdLst>
    <p:sldId xmlns:r="http://schemas.openxmlformats.org/officeDocument/2006/relationships" id="256" r:id="Rd49fc55df65449c4"/>
    <p:sldId xmlns:r="http://schemas.openxmlformats.org/officeDocument/2006/relationships" id="257" r:id="Ra88ebe294b824b64"/>
    <p:sldId xmlns:r="http://schemas.openxmlformats.org/officeDocument/2006/relationships" id="258" r:id="Rc0e2663f12874896"/>
    <p:sldId xmlns:r="http://schemas.openxmlformats.org/officeDocument/2006/relationships" id="259" r:id="R2874afd358e04081"/>
    <p:sldId xmlns:r="http://schemas.openxmlformats.org/officeDocument/2006/relationships" id="260" r:id="R9533f6656fdb4f55"/>
    <p:sldId xmlns:r="http://schemas.openxmlformats.org/officeDocument/2006/relationships" id="261" r:id="Ra7c0434d8d924364"/>
    <p:sldId xmlns:r="http://schemas.openxmlformats.org/officeDocument/2006/relationships" id="262" r:id="R9b529e60e68c4312"/>
    <p:sldId xmlns:r="http://schemas.openxmlformats.org/officeDocument/2006/relationships" id="263" r:id="Rb62c406f6b6e4cea"/>
    <p:sldId xmlns:r="http://schemas.openxmlformats.org/officeDocument/2006/relationships" id="264" r:id="R3606e903a8174f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9280bbfab4227" /><Relationship Type="http://schemas.openxmlformats.org/officeDocument/2006/relationships/slideMaster" Target="/ppt/slideMasters/slideMaster1.xml" Id="R43dc006ba7914c27" /><Relationship Type="http://schemas.openxmlformats.org/officeDocument/2006/relationships/notesMaster" Target="/ppt/notesMasters/notesMaster1.xml" Id="Ra4b9cefdc6064f7f" /><Relationship Type="http://schemas.openxmlformats.org/officeDocument/2006/relationships/presProps" Target="/ppt/presProps.xml" Id="Rae501ffd66df48bb" /><Relationship Type="http://schemas.openxmlformats.org/officeDocument/2006/relationships/tableStyles" Target="/ppt/tableStyles.xml" Id="R00c42156f87747ca" /><Relationship Type="http://schemas.openxmlformats.org/officeDocument/2006/relationships/slide" Target="/ppt/slides/slide1.xml" Id="Rd49fc55df65449c4" /><Relationship Type="http://schemas.openxmlformats.org/officeDocument/2006/relationships/slide" Target="/ppt/slides/slide2.xml" Id="Ra88ebe294b824b64" /><Relationship Type="http://schemas.openxmlformats.org/officeDocument/2006/relationships/slide" Target="/ppt/slides/slide3.xml" Id="Rc0e2663f12874896" /><Relationship Type="http://schemas.openxmlformats.org/officeDocument/2006/relationships/slide" Target="/ppt/slides/slide4.xml" Id="R2874afd358e04081" /><Relationship Type="http://schemas.openxmlformats.org/officeDocument/2006/relationships/slide" Target="/ppt/slides/slide5.xml" Id="R9533f6656fdb4f55" /><Relationship Type="http://schemas.openxmlformats.org/officeDocument/2006/relationships/slide" Target="/ppt/slides/slide6.xml" Id="Ra7c0434d8d924364" /><Relationship Type="http://schemas.openxmlformats.org/officeDocument/2006/relationships/slide" Target="/ppt/slides/slide7.xml" Id="R9b529e60e68c4312" /><Relationship Type="http://schemas.openxmlformats.org/officeDocument/2006/relationships/slide" Target="/ppt/slides/slide8.xml" Id="Rb62c406f6b6e4cea" /><Relationship Type="http://schemas.openxmlformats.org/officeDocument/2006/relationships/slide" Target="/ppt/slides/slide9.xml" Id="R3606e903a817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40e3a970c1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8033f040f42f5" /><Relationship Type="http://schemas.openxmlformats.org/officeDocument/2006/relationships/notesMaster" Target="/ppt/notesMasters/notesMaster1.xml" Id="Rf2ffeb21450d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65d15afad44b2" /><Relationship Type="http://schemas.openxmlformats.org/officeDocument/2006/relationships/notesMaster" Target="/ppt/notesMasters/notesMaster1.xml" Id="R9db8df20c6e646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ab2d084784490" /><Relationship Type="http://schemas.openxmlformats.org/officeDocument/2006/relationships/notesMaster" Target="/ppt/notesMasters/notesMaster1.xml" Id="R59c323089b27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73120044c4985" /><Relationship Type="http://schemas.openxmlformats.org/officeDocument/2006/relationships/notesMaster" Target="/ppt/notesMasters/notesMaster1.xml" Id="R15bddf16721c46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33d8885ae544de" /><Relationship Type="http://schemas.openxmlformats.org/officeDocument/2006/relationships/notesMaster" Target="/ppt/notesMasters/notesMaster1.xml" Id="Rc66de0b1f8104f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fa1193aae54b0e" /><Relationship Type="http://schemas.openxmlformats.org/officeDocument/2006/relationships/notesMaster" Target="/ppt/notesMasters/notesMaster1.xml" Id="R9f1dd3661ff2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facae1bb2c44de" /><Relationship Type="http://schemas.openxmlformats.org/officeDocument/2006/relationships/notesMaster" Target="/ppt/notesMasters/notesMaster1.xml" Id="R518796f2979e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881c6ff4f4ab6" /><Relationship Type="http://schemas.openxmlformats.org/officeDocument/2006/relationships/notesMaster" Target="/ppt/notesMasters/notesMaster1.xml" Id="R912aa5dff4e640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8f07e813314682" /><Relationship Type="http://schemas.openxmlformats.org/officeDocument/2006/relationships/notesMaster" Target="/ppt/notesMasters/notesMaster1.xml" Id="Rae3609496f8d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ClassPilot AI as a finished student workspace. The live conversational Coach is one part of a broader loop from course import to final submission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live product screenshot, captured July 25,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problem as an information-to-action gap, not a lack of calendars or note-taking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product requirements and observed Canvas assignment workflows, July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course-bound import flow. The selected course is authoritative, while global import remains available when the course is genuinely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implementation: course-bound import flow, source evidence catalog, and content parser, July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product as one connected learning loop rather than a collection of utilities. The same selected course and assignment context flows through every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implementation: import, planning, Today focus, submission checker, and Coach modules, July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one-step loop. The Coach reads the selected assignment, gives one small action, asks one checkpoint question, and waits for the student before adapting.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live product screenshot and Workers AI response, captured July 27,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ClassPilot supports execution, not only import. Students without institutional API access can use a local calendar feed or explicitly capture the Canvas page they are viewing.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Today, study scheduler, submission checker, Canvas calendar feed, and Canvas Companion implementations, July 2026.</a:t>
            </a:r>
          </a:p>
          <a:p xmlns:a="http://schemas.openxmlformats.org/drawingml/2006/main">
            <a:r>
              <a:t>- Canvas calendar feed documentation: https://community.canvaslms.com/t5/Student-Guide/How-do-I-view-the-Calendar-iCal-feed/ta-p/1806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privacy and academic-integrity boundary. The Worker validates every response and recovers a useful model-generated action when the model places it in the wrong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Worker and Coach response contract, July 27, 2026.</a:t>
            </a:r>
          </a:p>
          <a:p xmlns:a="http://schemas.openxmlformats.org/drawingml/2006/main">
            <a:r>
              <a:t>- Cloudflare Workers AI bindings: https://developers.cloudflare.com/workers-ai/configuration/bindings/</a:t>
            </a:r>
          </a:p>
          <a:p xmlns:a="http://schemas.openxmlformats.org/drawingml/2006/main">
            <a:r>
              <a:t>- Cloudflare Workers AI JSON mode: https://developers.cloudflare.com/workers-ai/features/json-mode/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the verification evidence: 365 automated tests passed, the public product had no Coach error, and the 390-pixel mobile layout had no horizontal overflow with exactly one interactive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test suite and public browser QA, July 27, 2026.</a:t>
            </a:r>
          </a:p>
          <a:p xmlns:a="http://schemas.openxmlformats.org/drawingml/2006/main">
            <a:r>
              <a:t>- ClassPilot AI live mobile product screenshot, captured July 27,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 and open the live URL. The Coach is online through Workers AI, while Canvas calendar feed and Companion imports work without a Developer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ClassPilot AI live product: https://cngei2.github.io/classpilot-ai-website/</a:t>
            </a:r>
          </a:p>
          <a:p xmlns:a="http://schemas.openxmlformats.org/drawingml/2006/main">
            <a:r>
              <a:t>- ClassPilot AI Worker deployment: https://classpilot-ai-coach.cngei2-classpilot.workers.dev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7385107b1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1bca545774ad6" /><Relationship Type="http://schemas.openxmlformats.org/officeDocument/2006/relationships/slideLayout" Target="/ppt/slideLayouts/slideLayout1.xml" Id="R2c0ddd83bcec4b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0ddd83bcec4b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d5712f98c47b3" /><Relationship Type="http://schemas.openxmlformats.org/officeDocument/2006/relationships/image" Target="/ppt/media/image.jpeg" Id="R5b803a7c418049e0" /><Relationship Type="http://schemas.openxmlformats.org/officeDocument/2006/relationships/notesSlide" Target="/ppt/notesSlides/notesSlide1.xml" Id="Rd8f40c2bcd74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fbc9a121410f" /><Relationship Type="http://schemas.openxmlformats.org/officeDocument/2006/relationships/notesSlide" Target="/ppt/notesSlides/notesSlide2.xml" Id="R7a9a9e6a0bc3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34c7d52ac4d61" /><Relationship Type="http://schemas.openxmlformats.org/officeDocument/2006/relationships/notesSlide" Target="/ppt/notesSlides/notesSlide3.xml" Id="R037f96d8e6cc42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d9ecdd1244b82" /><Relationship Type="http://schemas.openxmlformats.org/officeDocument/2006/relationships/notesSlide" Target="/ppt/notesSlides/notesSlide4.xml" Id="Rf64b9c8fc9ca4c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ea7f1f77c4714" /><Relationship Type="http://schemas.openxmlformats.org/officeDocument/2006/relationships/image" Target="/ppt/media/image2.jpeg" Id="Rd8fc379cbe1d4275" /><Relationship Type="http://schemas.openxmlformats.org/officeDocument/2006/relationships/notesSlide" Target="/ppt/notesSlides/notesSlide5.xml" Id="R35dabefdf1fc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295a4ff634784" /><Relationship Type="http://schemas.openxmlformats.org/officeDocument/2006/relationships/notesSlide" Target="/ppt/notesSlides/notesSlide6.xml" Id="Reb94ff1a265c42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7b553ec934010" /><Relationship Type="http://schemas.openxmlformats.org/officeDocument/2006/relationships/notesSlide" Target="/ppt/notesSlides/notesSlide7.xml" Id="R962edbaf675649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62934fa2547c8" /><Relationship Type="http://schemas.openxmlformats.org/officeDocument/2006/relationships/image" Target="/ppt/media/image3.jpeg" Id="R17a03dad87fc4bb9" /><Relationship Type="http://schemas.openxmlformats.org/officeDocument/2006/relationships/notesSlide" Target="/ppt/notesSlides/notesSlide8.xml" Id="R42c57afd47894f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7ac1a9a043ea" /><Relationship Type="http://schemas.openxmlformats.org/officeDocument/2006/relationships/notesSlide" Target="/ppt/notesSlides/notesSlide9.xml" Id="R716b179cabac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5B2A1B7-1794-491A-9B68-60CCE2A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451072C-5C7D-4BC0-835A-943AAA3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63F"/>
                </a:solidFill>
              </a:defRPr>
            </a:pPr>
            <a:r>
              <a:rPr sz="1050" b="1">
                <a:solidFill>
                  <a:srgbClr val="C9A63F"/>
                </a:solidFill>
              </a:rPr>
              <a:t>CLASS PILOT 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130C052-C1A2-4095-ADEE-FA54F66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Turn course material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into the next right action.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246B2E2C-D230-4AA5-91BE-1FFA5B3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AD1D4"/>
                </a:solidFill>
              </a:defRPr>
            </a:pPr>
            <a:r>
              <a:rPr sz="1575" b="0">
                <a:solidFill>
                  <a:srgbClr val="CAD1D4"/>
                </a:solidFill>
              </a:rPr>
              <a:t>A private student workspace that reads course material, builds a plan, checks the final file, and coaches the student in a live conversation.</a:t>
            </a:r>
          </a:p>
        </p:txBody>
      </p:sp>
      <p:sp>
        <p:nvSpPr>
          <p:cNvPr id="5" name="label-Product introduction-62">
            <a:extLst xmlns:a="http://schemas.openxmlformats.org/drawingml/2006/main">
              <a:ext uri="{FF2B5EF4-FFF2-40B4-BE49-F238E27FC236}">
                <a16:creationId xmlns:a16="http://schemas.microsoft.com/office/drawing/2014/main" id="{FC1D486C-CF37-4216-BAA4-4EB06D15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EDC"/>
          </a:solidFill>
          <a:ln xmlns:a="http://schemas.openxmlformats.org/drawingml/2006/main" w="9525">
            <a:solidFill>
              <a:srgbClr val="F2EE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5E16"/>
                </a:solidFill>
              </a:defRPr>
            </a:pPr>
            <a:r>
              <a:rPr sz="900" b="1">
                <a:solidFill>
                  <a:srgbClr val="725E16"/>
                </a:solidFill>
              </a:rPr>
              <a:t>PRODUCT INTRODUCTION</a:t>
            </a:r>
          </a:p>
        </p:txBody>
      </p:sp>
      <p:sp>
        <p:nvSpPr>
          <p:cNvPr id="6" name="cover-screen-frame">
            <a:extLst xmlns:a="http://schemas.openxmlformats.org/drawingml/2006/main">
              <a:ext uri="{FF2B5EF4-FFF2-40B4-BE49-F238E27FC236}">
                <a16:creationId xmlns:a16="http://schemas.microsoft.com/office/drawing/2014/main" id="{5A0FB9B5-DF0A-4E52-AF08-D9CE9835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81050"/>
            <a:ext cx="5619750" cy="51816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9545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03a7c418049e0"/>
          <a:srcRect xmlns:a="http://schemas.openxmlformats.org/drawingml/2006/main" l="15942" t="0" r="159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933450"/>
            <a:ext cx="5314950" cy="4876800"/>
          </a:xfrm>
          <a:prstGeom xmlns:a="http://schemas.openxmlformats.org/drawingml/2006/main" prst="roundRect">
            <a:avLst>
              <a:gd name="adj" fmla="val 1367"/>
            </a:avLst>
          </a:prstGeom>
        </p:spPr>
      </p:pic>
    </p:spTree>
    <p:extLst>
      <p:ext uri="{BB962C8B-B14F-4D97-AF65-F5344CB8AC3E}">
        <p14:creationId xmlns:p14="http://schemas.microsoft.com/office/powerpoint/2010/main" val="1735593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2">
            <a:extLst xmlns:a="http://schemas.openxmlformats.org/drawingml/2006/main">
              <a:ext uri="{FF2B5EF4-FFF2-40B4-BE49-F238E27FC236}">
                <a16:creationId xmlns:a16="http://schemas.microsoft.com/office/drawing/2014/main" id="{E1BE0053-277A-431F-A450-BA8B7B0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THE STUDENT PROBLEM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B2CD36A9-8DF0-4A2D-93BA-0E11E00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02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9C4C3F5D-B6B8-4482-B1C7-7749AF7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Students do not need another dashboard.">
            <a:extLst xmlns:a="http://schemas.openxmlformats.org/drawingml/2006/main">
              <a:ext uri="{FF2B5EF4-FFF2-40B4-BE49-F238E27FC236}">
                <a16:creationId xmlns:a16="http://schemas.microsoft.com/office/drawing/2014/main" id="{13923A4E-4CBB-4A9D-9223-1620CD93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Students do not need another dashboard.</a:t>
            </a:r>
          </a:p>
        </p:txBody>
      </p:sp>
      <p:sp>
        <p:nvSpPr>
          <p:cNvPr id="5" name="subtitle-Students do not need another dashboard.">
            <a:extLst xmlns:a="http://schemas.openxmlformats.org/drawingml/2006/main">
              <a:ext uri="{FF2B5EF4-FFF2-40B4-BE49-F238E27FC236}">
                <a16:creationId xmlns:a16="http://schemas.microsoft.com/office/drawing/2014/main" id="{B91BBF21-5074-4B65-9152-183DBCA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They need scattered course information turned into a clear, trustworthy plan.</a:t>
            </a:r>
          </a:p>
        </p:txBody>
      </p:sp>
      <p:sp>
        <p:nvSpPr>
          <p:cNvPr id="6" name="problem-card-0">
            <a:extLst xmlns:a="http://schemas.openxmlformats.org/drawingml/2006/main">
              <a:ext uri="{FF2B5EF4-FFF2-40B4-BE49-F238E27FC236}">
                <a16:creationId xmlns:a16="http://schemas.microsoft.com/office/drawing/2014/main" id="{48D153AE-D0B0-44D1-B547-C0B6CAC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4861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7" name="problem-number-0">
            <a:extLst xmlns:a="http://schemas.openxmlformats.org/drawingml/2006/main">
              <a:ext uri="{FF2B5EF4-FFF2-40B4-BE49-F238E27FC236}">
                <a16:creationId xmlns:a16="http://schemas.microsoft.com/office/drawing/2014/main" id="{E9202568-EF88-47B3-979F-992F061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74"/>
                </a:solidFill>
              </a:defRPr>
            </a:pPr>
            <a:r>
              <a:rPr sz="1050" b="1">
                <a:solidFill>
                  <a:srgbClr val="2F7D74"/>
                </a:solidFill>
              </a:rPr>
              <a:t>01</a:t>
            </a:r>
          </a:p>
        </p:txBody>
      </p:sp>
      <p:sp>
        <p:nvSpPr>
          <p:cNvPr id="8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96B8A65A-D9B7-4B1B-95EB-2E74F3F2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C22"/>
                </a:solidFill>
              </a:defRPr>
            </a:pPr>
            <a:r>
              <a:rPr sz="2025" b="1">
                <a:solidFill>
                  <a:srgbClr val="141C22"/>
                </a:solidFill>
              </a:rPr>
              <a:t>Course context gets lost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A8D946A4-C66D-41E4-A402-522F87B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8"/>
                </a:solidFill>
              </a:defRPr>
            </a:pPr>
            <a:r>
              <a:rPr sz="1350" b="0">
                <a:solidFill>
                  <a:srgbClr val="647078"/>
                </a:solidFill>
              </a:rPr>
              <a:t>A screenshot, syllabus, and assignment page often describe the same course, but ordinary tools treat them as unrelated files.</a:t>
            </a:r>
          </a:p>
        </p:txBody>
      </p:sp>
      <p:sp>
        <p:nvSpPr>
          <p:cNvPr id="10" name="problem-card-1">
            <a:extLst xmlns:a="http://schemas.openxmlformats.org/drawingml/2006/main">
              <a:ext uri="{FF2B5EF4-FFF2-40B4-BE49-F238E27FC236}">
                <a16:creationId xmlns:a16="http://schemas.microsoft.com/office/drawing/2014/main" id="{A5385C68-25D4-4D6D-B692-A5D20EC4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34861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DCECE8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1" name="problem-number-1">
            <a:extLst xmlns:a="http://schemas.openxmlformats.org/drawingml/2006/main">
              <a:ext uri="{FF2B5EF4-FFF2-40B4-BE49-F238E27FC236}">
                <a16:creationId xmlns:a16="http://schemas.microsoft.com/office/drawing/2014/main" id="{A6A25C92-EA96-4581-95F3-A99498C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74"/>
                </a:solidFill>
              </a:defRPr>
            </a:pPr>
            <a:r>
              <a:rPr sz="1050" b="1">
                <a:solidFill>
                  <a:srgbClr val="2F7D74"/>
                </a:solidFill>
              </a:rPr>
              <a:t>02</a:t>
            </a:r>
          </a:p>
        </p:txBody>
      </p:sp>
      <p:sp>
        <p:nvSpPr>
          <p:cNvPr id="12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7CD3161B-D889-453B-8A4A-D804A0B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C22"/>
                </a:solidFill>
              </a:defRPr>
            </a:pPr>
            <a:r>
              <a:rPr sz="2025" b="1">
                <a:solidFill>
                  <a:srgbClr val="141C22"/>
                </a:solidFill>
              </a:rPr>
              <a:t>Requirements hide in long pages</a:t>
            </a:r>
          </a:p>
        </p:txBody>
      </p:sp>
      <p:sp>
        <p:nvSpPr>
          <p:cNvPr id="13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84078649-0444-4F82-A3CB-6EDD6E7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8"/>
                </a:solidFill>
              </a:defRPr>
            </a:pPr>
            <a:r>
              <a:rPr sz="1350" b="0">
                <a:solidFill>
                  <a:srgbClr val="647078"/>
                </a:solidFill>
              </a:rPr>
              <a:t>Due dates, points, deliverables, submission rules, and rubric language compete for attention.</a:t>
            </a:r>
          </a:p>
        </p:txBody>
      </p:sp>
      <p:sp>
        <p:nvSpPr>
          <p:cNvPr id="14" name="problem-card-2">
            <a:extLst xmlns:a="http://schemas.openxmlformats.org/drawingml/2006/main">
              <a:ext uri="{FF2B5EF4-FFF2-40B4-BE49-F238E27FC236}">
                <a16:creationId xmlns:a16="http://schemas.microsoft.com/office/drawing/2014/main" id="{6B438D81-B522-4DAE-AC5B-9F78E5FE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4861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5" name="problem-number-2">
            <a:extLst xmlns:a="http://schemas.openxmlformats.org/drawingml/2006/main">
              <a:ext uri="{FF2B5EF4-FFF2-40B4-BE49-F238E27FC236}">
                <a16:creationId xmlns:a16="http://schemas.microsoft.com/office/drawing/2014/main" id="{BBACAB45-BF77-4837-A7EE-7A67936F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74"/>
                </a:solidFill>
              </a:defRPr>
            </a:pPr>
            <a:r>
              <a:rPr sz="1050" b="1">
                <a:solidFill>
                  <a:srgbClr val="2F7D74"/>
                </a:solidFill>
              </a:rPr>
              <a:t>03</a:t>
            </a:r>
          </a:p>
        </p:txBody>
      </p:sp>
      <p:sp>
        <p:nvSpPr>
          <p:cNvPr id="16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92C34566-E660-4ECA-892E-35B87F0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1C22"/>
                </a:solidFill>
              </a:defRPr>
            </a:pPr>
            <a:r>
              <a:rPr sz="2025" b="1">
                <a:solidFill>
                  <a:srgbClr val="141C22"/>
                </a:solidFill>
              </a:rPr>
              <a:t>Planning still happens manually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A66A612A-B27A-4195-A61E-2FE76293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8"/>
                </a:solidFill>
              </a:defRPr>
            </a:pPr>
            <a:r>
              <a:rPr sz="1350" b="0">
                <a:solidFill>
                  <a:srgbClr val="647078"/>
                </a:solidFill>
              </a:rPr>
              <a:t>Even after reading the prompt, the student must translate it into steps, evidence, checks, and a realistic next action.</a:t>
            </a:r>
          </a:p>
        </p:txBody>
      </p:sp>
    </p:spTree>
    <p:extLst>
      <p:ext uri="{BB962C8B-B14F-4D97-AF65-F5344CB8AC3E}">
        <p14:creationId xmlns:p14="http://schemas.microsoft.com/office/powerpoint/2010/main" val="1709972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3">
            <a:extLst xmlns:a="http://schemas.openxmlformats.org/drawingml/2006/main">
              <a:ext uri="{FF2B5EF4-FFF2-40B4-BE49-F238E27FC236}">
                <a16:creationId xmlns:a16="http://schemas.microsoft.com/office/drawing/2014/main" id="{A76F7560-18B1-4AD1-98DE-9D8A846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PRODUCT WORKFLOW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FA203D6-0BE4-42CB-B636-E79FE38A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03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69B3CA68-06B9-49B8-9AEF-5E2770E4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Upload once. Keep every fact with the right course.">
            <a:extLst xmlns:a="http://schemas.openxmlformats.org/drawingml/2006/main">
              <a:ext uri="{FF2B5EF4-FFF2-40B4-BE49-F238E27FC236}">
                <a16:creationId xmlns:a16="http://schemas.microsoft.com/office/drawing/2014/main" id="{653CA707-07C8-49E1-AA8F-54791A34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Upload once. Keep every fact with the right course.</a:t>
            </a:r>
          </a:p>
        </p:txBody>
      </p:sp>
      <p:sp>
        <p:nvSpPr>
          <p:cNvPr id="5" name="subtitle-Upload once. Keep every fact with the right course.">
            <a:extLst xmlns:a="http://schemas.openxmlformats.org/drawingml/2006/main">
              <a:ext uri="{FF2B5EF4-FFF2-40B4-BE49-F238E27FC236}">
                <a16:creationId xmlns:a16="http://schemas.microsoft.com/office/drawing/2014/main" id="{6A686A7A-E604-43F4-AD39-D57327A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Importing inside a course removes identity guesswork and prevents syllabus and assignment uploads from splitting into duplicates.</a:t>
            </a:r>
          </a:p>
        </p:txBody>
      </p:sp>
      <p:sp>
        <p:nvSpPr>
          <p:cNvPr id="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A45001DB-FE43-4E12-9A82-5817E806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7" name="step-digit-1">
            <a:extLst xmlns:a="http://schemas.openxmlformats.org/drawingml/2006/main">
              <a:ext uri="{FF2B5EF4-FFF2-40B4-BE49-F238E27FC236}">
                <a16:creationId xmlns:a16="http://schemas.microsoft.com/office/drawing/2014/main" id="{77F43AAE-3893-4609-9999-4DE3D55A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649B19FE-5F11-49DE-B719-0EA1BE3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Import once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31E3AF5-D2B8-4EC8-A6E3-6EFE0A0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Upload a screenshot, assignment text, PDF, DOCX, or syllabus directly inside the course.</a:t>
            </a:r>
          </a:p>
        </p:txBody>
      </p:sp>
      <p:sp>
        <p:nvSpPr>
          <p:cNvPr id="10" name="rule-116-302">
            <a:extLst xmlns:a="http://schemas.openxmlformats.org/drawingml/2006/main">
              <a:ext uri="{FF2B5EF4-FFF2-40B4-BE49-F238E27FC236}">
                <a16:creationId xmlns:a16="http://schemas.microsoft.com/office/drawing/2014/main" id="{CD76DB5D-56EA-4330-9245-E2F6B66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0">
            <a:extLst xmlns:a="http://schemas.openxmlformats.org/drawingml/2006/main">
              <a:ext uri="{FF2B5EF4-FFF2-40B4-BE49-F238E27FC236}">
                <a16:creationId xmlns:a16="http://schemas.microsoft.com/office/drawing/2014/main" id="{14D1432C-0D1D-4276-8CDB-2A01319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194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0307735-AF98-4406-BB55-D3BDE1D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13" name="step-digit-2">
            <a:extLst xmlns:a="http://schemas.openxmlformats.org/drawingml/2006/main">
              <a:ext uri="{FF2B5EF4-FFF2-40B4-BE49-F238E27FC236}">
                <a16:creationId xmlns:a16="http://schemas.microsoft.com/office/drawing/2014/main" id="{FCE9B429-B189-4DF5-96EE-927075A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95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0C3F03F6-D61D-4B66-9D71-1ECC36C2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Extract facts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9A08255-83ED-4388-B1A6-1A8C051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Capture course name, assignment title, due date, points, status, requirements, and deliverables.</a:t>
            </a:r>
          </a:p>
        </p:txBody>
      </p:sp>
      <p:sp>
        <p:nvSpPr>
          <p:cNvPr id="16" name="rule-418-302">
            <a:extLst xmlns:a="http://schemas.openxmlformats.org/drawingml/2006/main">
              <a:ext uri="{FF2B5EF4-FFF2-40B4-BE49-F238E27FC236}">
                <a16:creationId xmlns:a16="http://schemas.microsoft.com/office/drawing/2014/main" id="{6C91E5D1-E7A0-4024-AB6C-5967FAC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row-1">
            <a:extLst xmlns:a="http://schemas.openxmlformats.org/drawingml/2006/main">
              <a:ext uri="{FF2B5EF4-FFF2-40B4-BE49-F238E27FC236}">
                <a16:creationId xmlns:a16="http://schemas.microsoft.com/office/drawing/2014/main" id="{A1428B0E-548F-4AEB-941D-989F1EC2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C74AF893-8FE2-4440-BB2B-817A7D86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19" name="step-digit-3">
            <a:extLst xmlns:a="http://schemas.openxmlformats.org/drawingml/2006/main">
              <a:ext uri="{FF2B5EF4-FFF2-40B4-BE49-F238E27FC236}">
                <a16:creationId xmlns:a16="http://schemas.microsoft.com/office/drawing/2014/main" id="{3F836F8B-8A0D-4C92-A52E-F750A511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086C9D35-5142-4071-B85C-88E76DC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Organize by course</a:t>
            </a:r>
          </a:p>
        </p:txBody>
      </p:sp>
      <p:sp>
        <p:nvSpPr>
          <p:cNvPr id="2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F8976A6-A655-4226-8BE0-CB94454C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Keep syllabus-level exams and policies separate from assignment-level tasks and evidence.</a:t>
            </a:r>
          </a:p>
        </p:txBody>
      </p:sp>
      <p:sp>
        <p:nvSpPr>
          <p:cNvPr id="22" name="rule-720-302">
            <a:extLst xmlns:a="http://schemas.openxmlformats.org/drawingml/2006/main">
              <a:ext uri="{FF2B5EF4-FFF2-40B4-BE49-F238E27FC236}">
                <a16:creationId xmlns:a16="http://schemas.microsoft.com/office/drawing/2014/main" id="{434889F9-FDFC-4824-AA87-FE64645F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row-2">
            <a:extLst xmlns:a="http://schemas.openxmlformats.org/drawingml/2006/main">
              <a:ext uri="{FF2B5EF4-FFF2-40B4-BE49-F238E27FC236}">
                <a16:creationId xmlns:a16="http://schemas.microsoft.com/office/drawing/2014/main" id="{6BC8FF49-4487-4B4C-BB3B-88B075F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24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C38BF6D6-1A86-4558-8C3C-D6F280B8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25" name="step-digit-4">
            <a:extLst xmlns:a="http://schemas.openxmlformats.org/drawingml/2006/main">
              <a:ext uri="{FF2B5EF4-FFF2-40B4-BE49-F238E27FC236}">
                <a16:creationId xmlns:a16="http://schemas.microsoft.com/office/drawing/2014/main" id="{4BF137AB-921C-4D4A-9443-CECC3C7E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95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B90FCCC2-6D43-4334-804A-1538B68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Build the work</a:t>
            </a:r>
          </a:p>
        </p:txBody>
      </p:sp>
      <p:sp>
        <p:nvSpPr>
          <p:cNvPr id="27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1578FDE-202A-4A4D-A080-8C031703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Create tasks, a study schedule, a next action, and evidence-grounded Coach context.</a:t>
            </a:r>
          </a:p>
        </p:txBody>
      </p:sp>
      <p:sp>
        <p:nvSpPr>
          <p:cNvPr id="28" name="workflow-result">
            <a:extLst xmlns:a="http://schemas.openxmlformats.org/drawingml/2006/main">
              <a:ext uri="{FF2B5EF4-FFF2-40B4-BE49-F238E27FC236}">
                <a16:creationId xmlns:a16="http://schemas.microsoft.com/office/drawing/2014/main" id="{05FF0A2C-F990-45D6-B76E-CB57A58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74"/>
                </a:solidFill>
              </a:defRPr>
            </a:pPr>
            <a:r>
              <a:rPr sz="1275" b="1">
                <a:solidFill>
                  <a:srgbClr val="2F7D74"/>
                </a:solidFill>
              </a:rPr>
              <a:t>RESULT  /  One course workspace holds its assignments, syllabus, schedule, submission checks, and Coach history.</a:t>
            </a:r>
          </a:p>
        </p:txBody>
      </p:sp>
    </p:spTree>
    <p:extLst>
      <p:ext uri="{BB962C8B-B14F-4D97-AF65-F5344CB8AC3E}">
        <p14:creationId xmlns:p14="http://schemas.microsoft.com/office/powerpoint/2010/main" val="799625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4">
            <a:extLst xmlns:a="http://schemas.openxmlformats.org/drawingml/2006/main">
              <a:ext uri="{FF2B5EF4-FFF2-40B4-BE49-F238E27FC236}">
                <a16:creationId xmlns:a16="http://schemas.microsoft.com/office/drawing/2014/main" id="{6AFAF402-3AF7-4506-8F00-9C62D858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THE PRODUCT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47B4816-B886-44AD-A852-A2DAA286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04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D9AF9379-0AB7-40FC-BFAF-3251762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ClassPilot closes the loop from prompt to submission.">
            <a:extLst xmlns:a="http://schemas.openxmlformats.org/drawingml/2006/main">
              <a:ext uri="{FF2B5EF4-FFF2-40B4-BE49-F238E27FC236}">
                <a16:creationId xmlns:a16="http://schemas.microsoft.com/office/drawing/2014/main" id="{7EB0AAA5-2C3E-423E-922F-985C13B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ClassPilot closes the loop from prompt to submission.</a:t>
            </a:r>
          </a:p>
        </p:txBody>
      </p:sp>
      <p:sp>
        <p:nvSpPr>
          <p:cNvPr id="5" name="subtitle-ClassPilot closes the loop from prompt to submission.">
            <a:extLst xmlns:a="http://schemas.openxmlformats.org/drawingml/2006/main">
              <a:ext uri="{FF2B5EF4-FFF2-40B4-BE49-F238E27FC236}">
                <a16:creationId xmlns:a16="http://schemas.microsoft.com/office/drawing/2014/main" id="{F1AE8BE5-4D6D-4775-A100-0793E8C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Each feature uses the same course record, so the student's plan stays connected to the original evidence.</a:t>
            </a:r>
          </a:p>
        </p:txBody>
      </p:sp>
      <p:sp>
        <p:nvSpPr>
          <p:cNvPr id="6" name="loop-node-0">
            <a:extLst xmlns:a="http://schemas.openxmlformats.org/drawingml/2006/main">
              <a:ext uri="{FF2B5EF4-FFF2-40B4-BE49-F238E27FC236}">
                <a16:creationId xmlns:a16="http://schemas.microsoft.com/office/drawing/2014/main" id="{3A21CBE7-04C2-40C6-A1D8-08932C9E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7" name="loop-number-0">
            <a:extLst xmlns:a="http://schemas.openxmlformats.org/drawingml/2006/main">
              <a:ext uri="{FF2B5EF4-FFF2-40B4-BE49-F238E27FC236}">
                <a16:creationId xmlns:a16="http://schemas.microsoft.com/office/drawing/2014/main" id="{A9BCD19A-9529-4EA8-8DBE-EF5C6B3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CBC5FE59-7013-4773-B02E-C26CF95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Import</a:t>
            </a:r>
          </a:p>
        </p:txBody>
      </p:sp>
      <p:sp>
        <p:nvSpPr>
          <p:cNvPr id="9" name="loop-body-0">
            <a:extLst xmlns:a="http://schemas.openxmlformats.org/drawingml/2006/main">
              <a:ext uri="{FF2B5EF4-FFF2-40B4-BE49-F238E27FC236}">
                <a16:creationId xmlns:a16="http://schemas.microsoft.com/office/drawing/2014/main" id="{9E4E3E7F-C84F-4EFA-9B9E-73860DE2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Screenshot, text, PDF, DOCX, PPTX</a:t>
            </a:r>
          </a:p>
        </p:txBody>
      </p:sp>
      <p:sp>
        <p:nvSpPr>
          <p:cNvPr id="10" name="rule-102-298">
            <a:extLst xmlns:a="http://schemas.openxmlformats.org/drawingml/2006/main">
              <a:ext uri="{FF2B5EF4-FFF2-40B4-BE49-F238E27FC236}">
                <a16:creationId xmlns:a16="http://schemas.microsoft.com/office/drawing/2014/main" id="{88CD023E-9A2A-4CB2-9BFD-8D45AB4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549ACD5E-4D01-49FB-B4D0-7AAE9D6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2" name="loop-node-1">
            <a:extLst xmlns:a="http://schemas.openxmlformats.org/drawingml/2006/main">
              <a:ext uri="{FF2B5EF4-FFF2-40B4-BE49-F238E27FC236}">
                <a16:creationId xmlns:a16="http://schemas.microsoft.com/office/drawing/2014/main" id="{F9B38F63-696D-4D61-89F2-E2A18CC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13" name="loop-number-1">
            <a:extLst xmlns:a="http://schemas.openxmlformats.org/drawingml/2006/main">
              <a:ext uri="{FF2B5EF4-FFF2-40B4-BE49-F238E27FC236}">
                <a16:creationId xmlns:a16="http://schemas.microsoft.com/office/drawing/2014/main" id="{CCF244A5-BD1F-400F-B4C7-00B0326B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94DDAD09-0AB4-4B4F-B7E5-7766FD8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Understand</a:t>
            </a:r>
          </a:p>
        </p:txBody>
      </p:sp>
      <p:sp>
        <p:nvSpPr>
          <p:cNvPr id="15" name="loop-body-1">
            <a:extLst xmlns:a="http://schemas.openxmlformats.org/drawingml/2006/main">
              <a:ext uri="{FF2B5EF4-FFF2-40B4-BE49-F238E27FC236}">
                <a16:creationId xmlns:a16="http://schemas.microsoft.com/office/drawing/2014/main" id="{76B5FA40-70E2-4D58-8CEB-BE26041E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Facts, requirements, rubric, dates</a:t>
            </a:r>
          </a:p>
        </p:txBody>
      </p:sp>
      <p:sp>
        <p:nvSpPr>
          <p:cNvPr id="16" name="rule-300-298">
            <a:extLst xmlns:a="http://schemas.openxmlformats.org/drawingml/2006/main">
              <a:ext uri="{FF2B5EF4-FFF2-40B4-BE49-F238E27FC236}">
                <a16:creationId xmlns:a16="http://schemas.microsoft.com/office/drawing/2014/main" id="{E9BAEA6C-C249-40E4-8FD8-E6AA019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9048AFD8-3D4A-4658-A57B-EA1AFBE0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81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8" name="loop-node-2">
            <a:extLst xmlns:a="http://schemas.openxmlformats.org/drawingml/2006/main">
              <a:ext uri="{FF2B5EF4-FFF2-40B4-BE49-F238E27FC236}">
                <a16:creationId xmlns:a16="http://schemas.microsoft.com/office/drawing/2014/main" id="{E0E7D696-26FB-4F2B-9152-11CAA331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19" name="loop-number-2">
            <a:extLst xmlns:a="http://schemas.openxmlformats.org/drawingml/2006/main">
              <a:ext uri="{FF2B5EF4-FFF2-40B4-BE49-F238E27FC236}">
                <a16:creationId xmlns:a16="http://schemas.microsoft.com/office/drawing/2014/main" id="{5E725DC9-DD14-4F1C-B9A3-3EC169B4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B4DF27B9-C433-4C18-8833-C0BE6FC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Plan</a:t>
            </a:r>
          </a:p>
        </p:txBody>
      </p:sp>
      <p:sp>
        <p:nvSpPr>
          <p:cNvPr id="21" name="loop-body-2">
            <a:extLst xmlns:a="http://schemas.openxmlformats.org/drawingml/2006/main">
              <a:ext uri="{FF2B5EF4-FFF2-40B4-BE49-F238E27FC236}">
                <a16:creationId xmlns:a16="http://schemas.microsoft.com/office/drawing/2014/main" id="{7E495C71-E70F-410F-9BF4-DD3595D5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Tasks and adaptive study sessions</a:t>
            </a:r>
          </a:p>
        </p:txBody>
      </p:sp>
      <p:sp>
        <p:nvSpPr>
          <p:cNvPr id="22" name="rule-498-298">
            <a:extLst xmlns:a="http://schemas.openxmlformats.org/drawingml/2006/main">
              <a:ext uri="{FF2B5EF4-FFF2-40B4-BE49-F238E27FC236}">
                <a16:creationId xmlns:a16="http://schemas.microsoft.com/office/drawing/2014/main" id="{132C7B25-93D7-4682-82CF-AE0E4C2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E9DAE346-D3A7-4A2C-BA93-94EFCBBE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24" name="loop-node-3">
            <a:extLst xmlns:a="http://schemas.openxmlformats.org/drawingml/2006/main">
              <a:ext uri="{FF2B5EF4-FFF2-40B4-BE49-F238E27FC236}">
                <a16:creationId xmlns:a16="http://schemas.microsoft.com/office/drawing/2014/main" id="{F33314E0-3792-4257-A991-F7698D14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25" name="loop-number-3">
            <a:extLst xmlns:a="http://schemas.openxmlformats.org/drawingml/2006/main">
              <a:ext uri="{FF2B5EF4-FFF2-40B4-BE49-F238E27FC236}">
                <a16:creationId xmlns:a16="http://schemas.microsoft.com/office/drawing/2014/main" id="{266CD194-9858-458E-9745-3A7569DC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6F9734C2-8E9E-4FCF-BF30-794FE5A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Focus</a:t>
            </a:r>
          </a:p>
        </p:txBody>
      </p:sp>
      <p:sp>
        <p:nvSpPr>
          <p:cNvPr id="27" name="loop-body-3">
            <a:extLst xmlns:a="http://schemas.openxmlformats.org/drawingml/2006/main">
              <a:ext uri="{FF2B5EF4-FFF2-40B4-BE49-F238E27FC236}">
                <a16:creationId xmlns:a16="http://schemas.microsoft.com/office/drawing/2014/main" id="{C4E97178-38DA-475E-8C9A-60FE39A1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One next action on Today</a:t>
            </a:r>
          </a:p>
        </p:txBody>
      </p:sp>
      <p:sp>
        <p:nvSpPr>
          <p:cNvPr id="28" name="rule-696-298">
            <a:extLst xmlns:a="http://schemas.openxmlformats.org/drawingml/2006/main">
              <a:ext uri="{FF2B5EF4-FFF2-40B4-BE49-F238E27FC236}">
                <a16:creationId xmlns:a16="http://schemas.microsoft.com/office/drawing/2014/main" id="{290ACDB7-65AF-410F-9CBC-051959F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EFF8C2E9-CF0A-4159-A62B-B480B56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30" name="loop-node-4">
            <a:extLst xmlns:a="http://schemas.openxmlformats.org/drawingml/2006/main">
              <a:ext uri="{FF2B5EF4-FFF2-40B4-BE49-F238E27FC236}">
                <a16:creationId xmlns:a16="http://schemas.microsoft.com/office/drawing/2014/main" id="{4B752079-49B4-49ED-94A9-D95F2763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31" name="loop-number-4">
            <a:extLst xmlns:a="http://schemas.openxmlformats.org/drawingml/2006/main">
              <a:ext uri="{FF2B5EF4-FFF2-40B4-BE49-F238E27FC236}">
                <a16:creationId xmlns:a16="http://schemas.microsoft.com/office/drawing/2014/main" id="{7D22B758-0608-4E00-9943-CF24D5BD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540394E3-9FBC-42F1-9688-3D00130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Check</a:t>
            </a:r>
          </a:p>
        </p:txBody>
      </p:sp>
      <p:sp>
        <p:nvSpPr>
          <p:cNvPr id="33" name="loop-body-4">
            <a:extLst xmlns:a="http://schemas.openxmlformats.org/drawingml/2006/main">
              <a:ext uri="{FF2B5EF4-FFF2-40B4-BE49-F238E27FC236}">
                <a16:creationId xmlns:a16="http://schemas.microsoft.com/office/drawing/2014/main" id="{092EA5D1-CAAD-4A28-AF7B-8F6765E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Rubric fit, file quality, AI-writing reminder</a:t>
            </a:r>
          </a:p>
        </p:txBody>
      </p:sp>
      <p:sp>
        <p:nvSpPr>
          <p:cNvPr id="34" name="rule-894-298">
            <a:extLst xmlns:a="http://schemas.openxmlformats.org/drawingml/2006/main">
              <a:ext uri="{FF2B5EF4-FFF2-40B4-BE49-F238E27FC236}">
                <a16:creationId xmlns:a16="http://schemas.microsoft.com/office/drawing/2014/main" id="{97F668DC-48D9-4763-B8BD-447E026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loop-arrow-4">
            <a:extLst xmlns:a="http://schemas.openxmlformats.org/drawingml/2006/main">
              <a:ext uri="{FF2B5EF4-FFF2-40B4-BE49-F238E27FC236}">
                <a16:creationId xmlns:a16="http://schemas.microsoft.com/office/drawing/2014/main" id="{E64F245C-34F5-447A-84A8-074C67F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36" name="loop-node-5">
            <a:extLst xmlns:a="http://schemas.openxmlformats.org/drawingml/2006/main">
              <a:ext uri="{FF2B5EF4-FFF2-40B4-BE49-F238E27FC236}">
                <a16:creationId xmlns:a16="http://schemas.microsoft.com/office/drawing/2014/main" id="{88B0AC93-C2B5-4728-A90D-DF0E1EB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9525">
            <a:solidFill>
              <a:srgbClr val="C9A63F"/>
            </a:solidFill>
            <a:prstDash val="solid"/>
          </a:ln>
        </p:spPr>
      </p:sp>
      <p:sp>
        <p:nvSpPr>
          <p:cNvPr id="37" name="loop-number-5">
            <a:extLst xmlns:a="http://schemas.openxmlformats.org/drawingml/2006/main">
              <a:ext uri="{FF2B5EF4-FFF2-40B4-BE49-F238E27FC236}">
                <a16:creationId xmlns:a16="http://schemas.microsoft.com/office/drawing/2014/main" id="{D4495106-C223-497A-82E8-54891319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loop-title-5">
            <a:extLst xmlns:a="http://schemas.openxmlformats.org/drawingml/2006/main">
              <a:ext uri="{FF2B5EF4-FFF2-40B4-BE49-F238E27FC236}">
                <a16:creationId xmlns:a16="http://schemas.microsoft.com/office/drawing/2014/main" id="{676055F1-6D9D-4DDB-84FE-F06D144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1C22"/>
                </a:solidFill>
              </a:defRPr>
            </a:pPr>
            <a:r>
              <a:rPr sz="1575" b="1">
                <a:solidFill>
                  <a:srgbClr val="141C22"/>
                </a:solidFill>
              </a:rPr>
              <a:t>Coach</a:t>
            </a:r>
          </a:p>
        </p:txBody>
      </p:sp>
      <p:sp>
        <p:nvSpPr>
          <p:cNvPr id="39" name="loop-body-5">
            <a:extLst xmlns:a="http://schemas.openxmlformats.org/drawingml/2006/main">
              <a:ext uri="{FF2B5EF4-FFF2-40B4-BE49-F238E27FC236}">
                <a16:creationId xmlns:a16="http://schemas.microsoft.com/office/drawing/2014/main" id="{DD97A5F1-B52D-4603-963F-3634455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Live follow-up conversation with citations</a:t>
            </a:r>
          </a:p>
        </p:txBody>
      </p:sp>
      <p:sp>
        <p:nvSpPr>
          <p:cNvPr id="40" name="loop-result-band">
            <a:extLst xmlns:a="http://schemas.openxmlformats.org/drawingml/2006/main">
              <a:ext uri="{FF2B5EF4-FFF2-40B4-BE49-F238E27FC236}">
                <a16:creationId xmlns:a16="http://schemas.microsoft.com/office/drawing/2014/main" id="{0FD10546-0326-4D6E-82EF-CADBA32C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11239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1C22"/>
          </a:solidFill>
          <a:ln xmlns:a="http://schemas.openxmlformats.org/drawingml/2006/main" w="9525">
            <a:solidFill>
              <a:srgbClr val="141C22"/>
            </a:solidFill>
            <a:prstDash val="solid"/>
          </a:ln>
        </p:spPr>
      </p:sp>
      <p:sp>
        <p:nvSpPr>
          <p:cNvPr id="41" name="loop-result">
            <a:extLst xmlns:a="http://schemas.openxmlformats.org/drawingml/2006/main">
              <a:ext uri="{FF2B5EF4-FFF2-40B4-BE49-F238E27FC236}">
                <a16:creationId xmlns:a16="http://schemas.microsoft.com/office/drawing/2014/main" id="{48453A52-3F26-43AF-BDEC-92399F37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1078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student always knows what the source said, what remains, and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252197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5">
            <a:extLst xmlns:a="http://schemas.openxmlformats.org/drawingml/2006/main">
              <a:ext uri="{FF2B5EF4-FFF2-40B4-BE49-F238E27FC236}">
                <a16:creationId xmlns:a16="http://schemas.microsoft.com/office/drawing/2014/main" id="{2BD6497E-89C5-4319-8AC6-611C2C6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LIVE AI COACH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4BC4DFB-E00C-4191-B523-0CAB28DB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05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AC03248E-B3A9-4D40-9556-2DA4DA6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The Coach gives one step, then waits.">
            <a:extLst xmlns:a="http://schemas.openxmlformats.org/drawingml/2006/main">
              <a:ext uri="{FF2B5EF4-FFF2-40B4-BE49-F238E27FC236}">
                <a16:creationId xmlns:a16="http://schemas.microsoft.com/office/drawing/2014/main" id="{6ACEF70B-57B1-43DC-8EA1-10AA3336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The Coach gives one step, then waits.</a:t>
            </a:r>
          </a:p>
        </p:txBody>
      </p:sp>
      <p:sp>
        <p:nvSpPr>
          <p:cNvPr id="5" name="subtitle-The Coach gives one step, then waits.">
            <a:extLst xmlns:a="http://schemas.openxmlformats.org/drawingml/2006/main">
              <a:ext uri="{FF2B5EF4-FFF2-40B4-BE49-F238E27FC236}">
                <a16:creationId xmlns:a16="http://schemas.microsoft.com/office/drawing/2014/main" id="{9D5B4C67-7F0D-494B-A363-5421113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Students can start, continue, get unstuck, or test an idea without receiving a generic plan or a finished answer.</a:t>
            </a:r>
          </a:p>
        </p:txBody>
      </p:sp>
      <p:sp>
        <p:nvSpPr>
          <p:cNvPr id="6" name="coach-screen-frame">
            <a:extLst xmlns:a="http://schemas.openxmlformats.org/drawingml/2006/main">
              <a:ext uri="{FF2B5EF4-FFF2-40B4-BE49-F238E27FC236}">
                <a16:creationId xmlns:a16="http://schemas.microsoft.com/office/drawing/2014/main" id="{9722DD13-DEB5-4F3A-9786-D16D3EC2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70675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c379cbe1d4275"/>
          <a:srcRect xmlns:a="http://schemas.openxmlformats.org/drawingml/2006/main" l="0" t="6527" r="0" b="65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343150"/>
            <a:ext cx="6800850" cy="3695700"/>
          </a:xfrm>
          <a:prstGeom xmlns:a="http://schemas.openxmlformats.org/drawingml/2006/main" prst="roundRect">
            <a:avLst>
              <a:gd name="adj" fmla="val 1804"/>
            </a:avLst>
          </a:prstGeom>
        </p:spPr>
      </p:pic>
      <p:sp>
        <p:nvSpPr>
          <p:cNvPr id="8" name="coach-label-0">
            <a:extLst xmlns:a="http://schemas.openxmlformats.org/drawingml/2006/main">
              <a:ext uri="{FF2B5EF4-FFF2-40B4-BE49-F238E27FC236}">
                <a16:creationId xmlns:a16="http://schemas.microsoft.com/office/drawing/2014/main" id="{24DC8C12-00E9-4615-9F38-CFCDA5A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ADAPT</a:t>
            </a:r>
          </a:p>
        </p:txBody>
      </p:sp>
      <p:sp>
        <p:nvSpPr>
          <p:cNvPr id="9" name="coach-copy-0">
            <a:extLst xmlns:a="http://schemas.openxmlformats.org/drawingml/2006/main">
              <a:ext uri="{FF2B5EF4-FFF2-40B4-BE49-F238E27FC236}">
                <a16:creationId xmlns:a16="http://schemas.microsoft.com/office/drawing/2014/main" id="{331608B7-E49F-4967-9BFC-D85100AC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8"/>
                </a:solidFill>
              </a:defRPr>
            </a:pPr>
            <a:r>
              <a:rPr sz="1425" b="0">
                <a:solidFill>
                  <a:srgbClr val="647078"/>
                </a:solidFill>
              </a:rPr>
              <a:t>The next action advances, shrinks, or changes after each student response.</a:t>
            </a:r>
          </a:p>
        </p:txBody>
      </p:sp>
      <p:sp>
        <p:nvSpPr>
          <p:cNvPr id="10" name="rule-830-362">
            <a:extLst xmlns:a="http://schemas.openxmlformats.org/drawingml/2006/main">
              <a:ext uri="{FF2B5EF4-FFF2-40B4-BE49-F238E27FC236}">
                <a16:creationId xmlns:a16="http://schemas.microsoft.com/office/drawing/2014/main" id="{3E18A0A7-A61A-4B00-BABC-5808042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480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ach-label-1">
            <a:extLst xmlns:a="http://schemas.openxmlformats.org/drawingml/2006/main">
              <a:ext uri="{FF2B5EF4-FFF2-40B4-BE49-F238E27FC236}">
                <a16:creationId xmlns:a16="http://schemas.microsoft.com/office/drawing/2014/main" id="{D9456207-5AB8-4D8C-A95E-157A644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81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E16"/>
                </a:solidFill>
              </a:defRPr>
            </a:pPr>
            <a:r>
              <a:rPr sz="975" b="1">
                <a:solidFill>
                  <a:srgbClr val="725E16"/>
                </a:solidFill>
              </a:rPr>
              <a:t>VERIFY</a:t>
            </a:r>
          </a:p>
        </p:txBody>
      </p:sp>
      <p:sp>
        <p:nvSpPr>
          <p:cNvPr id="12" name="coach-copy-1">
            <a:extLst xmlns:a="http://schemas.openxmlformats.org/drawingml/2006/main">
              <a:ext uri="{FF2B5EF4-FFF2-40B4-BE49-F238E27FC236}">
                <a16:creationId xmlns:a16="http://schemas.microsoft.com/office/drawing/2014/main" id="{FE33BE70-2258-4484-AA30-3CD2BBB8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8"/>
                </a:solidFill>
              </a:defRPr>
            </a:pPr>
            <a:r>
              <a:rPr sz="1425" b="0">
                <a:solidFill>
                  <a:srgbClr val="647078"/>
                </a:solidFill>
              </a:rPr>
              <a:t>Evidence chips point back to exact dates, requirements, and rubric text.</a:t>
            </a:r>
          </a:p>
        </p:txBody>
      </p:sp>
      <p:sp>
        <p:nvSpPr>
          <p:cNvPr id="13" name="rule-830-486">
            <a:extLst xmlns:a="http://schemas.openxmlformats.org/drawingml/2006/main">
              <a:ext uri="{FF2B5EF4-FFF2-40B4-BE49-F238E27FC236}">
                <a16:creationId xmlns:a16="http://schemas.microsoft.com/office/drawing/2014/main" id="{31FBC723-687F-4CB5-B777-2CA98436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ach-label-2">
            <a:extLst xmlns:a="http://schemas.openxmlformats.org/drawingml/2006/main">
              <a:ext uri="{FF2B5EF4-FFF2-40B4-BE49-F238E27FC236}">
                <a16:creationId xmlns:a16="http://schemas.microsoft.com/office/drawing/2014/main" id="{6CA07AA3-C2EF-4A99-A28C-13A29337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OWN</a:t>
            </a:r>
          </a:p>
        </p:txBody>
      </p:sp>
      <p:sp>
        <p:nvSpPr>
          <p:cNvPr id="15" name="coach-copy-2">
            <a:extLst xmlns:a="http://schemas.openxmlformats.org/drawingml/2006/main">
              <a:ext uri="{FF2B5EF4-FFF2-40B4-BE49-F238E27FC236}">
                <a16:creationId xmlns:a16="http://schemas.microsoft.com/office/drawing/2014/main" id="{5596E9B4-4D0D-45A1-854D-1F15F304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8"/>
                </a:solidFill>
              </a:defRPr>
            </a:pPr>
            <a:r>
              <a:rPr sz="1425" b="0">
                <a:solidFill>
                  <a:srgbClr val="647078"/>
                </a:solidFill>
              </a:rPr>
              <a:t>The Coach protects student authorship and adds its step to the checklist.</a:t>
            </a:r>
          </a:p>
        </p:txBody>
      </p:sp>
    </p:spTree>
    <p:extLst>
      <p:ext uri="{BB962C8B-B14F-4D97-AF65-F5344CB8AC3E}">
        <p14:creationId xmlns:p14="http://schemas.microsoft.com/office/powerpoint/2010/main" val="583151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6">
            <a:extLst xmlns:a="http://schemas.openxmlformats.org/drawingml/2006/main">
              <a:ext uri="{FF2B5EF4-FFF2-40B4-BE49-F238E27FC236}">
                <a16:creationId xmlns:a16="http://schemas.microsoft.com/office/drawing/2014/main" id="{D5E6DB6D-610D-4B61-92D9-655A2670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DAILY WORKFLOW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0A886CD6-40C5-4F0F-9C44-C355AEA2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06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C9E0563E-9D71-4954-B499-DE0A1E7E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Planning and final checks stay connected.">
            <a:extLst xmlns:a="http://schemas.openxmlformats.org/drawingml/2006/main">
              <a:ext uri="{FF2B5EF4-FFF2-40B4-BE49-F238E27FC236}">
                <a16:creationId xmlns:a16="http://schemas.microsoft.com/office/drawing/2014/main" id="{CA988B5F-F07E-43E1-8331-86591124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Planning and final checks stay connected.</a:t>
            </a:r>
          </a:p>
        </p:txBody>
      </p:sp>
      <p:sp>
        <p:nvSpPr>
          <p:cNvPr id="5" name="subtitle-Planning and final checks stay connected.">
            <a:extLst xmlns:a="http://schemas.openxmlformats.org/drawingml/2006/main">
              <a:ext uri="{FF2B5EF4-FFF2-40B4-BE49-F238E27FC236}">
                <a16:creationId xmlns:a16="http://schemas.microsoft.com/office/drawing/2014/main" id="{6262FF70-41F6-4B23-8666-3DEF25B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ClassPilot supports the quiet work between importing an assignment and actually submitting it.</a:t>
            </a:r>
          </a:p>
        </p:txBody>
      </p:sp>
      <p:sp>
        <p:nvSpPr>
          <p:cNvPr id="6" name="daily-tag-0">
            <a:extLst xmlns:a="http://schemas.openxmlformats.org/drawingml/2006/main">
              <a:ext uri="{FF2B5EF4-FFF2-40B4-BE49-F238E27FC236}">
                <a16:creationId xmlns:a16="http://schemas.microsoft.com/office/drawing/2014/main" id="{94F42046-EE15-4C12-9A2A-C4BB74F4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74"/>
                </a:solidFill>
              </a:defRPr>
            </a:pPr>
            <a:r>
              <a:rPr sz="900" b="1">
                <a:solidFill>
                  <a:srgbClr val="2F7D74"/>
                </a:solidFill>
              </a:rPr>
              <a:t>TODAY</a:t>
            </a:r>
          </a:p>
        </p:txBody>
      </p:sp>
      <p:sp>
        <p:nvSpPr>
          <p:cNvPr id="7" name="daily-title-0">
            <a:extLst xmlns:a="http://schemas.openxmlformats.org/drawingml/2006/main">
              <a:ext uri="{FF2B5EF4-FFF2-40B4-BE49-F238E27FC236}">
                <a16:creationId xmlns:a16="http://schemas.microsoft.com/office/drawing/2014/main" id="{A9275F16-5280-4CF3-BC6C-2ED603F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66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C22"/>
                </a:solidFill>
              </a:defRPr>
            </a:pPr>
            <a:r>
              <a:rPr sz="1725" b="1">
                <a:solidFill>
                  <a:srgbClr val="141C22"/>
                </a:solidFill>
              </a:rPr>
              <a:t>One-click focus</a:t>
            </a:r>
          </a:p>
        </p:txBody>
      </p:sp>
      <p:sp>
        <p:nvSpPr>
          <p:cNvPr id="8" name="daily-copy-0">
            <a:extLst xmlns:a="http://schemas.openxmlformats.org/drawingml/2006/main">
              <a:ext uri="{FF2B5EF4-FFF2-40B4-BE49-F238E27FC236}">
                <a16:creationId xmlns:a16="http://schemas.microsoft.com/office/drawing/2014/main" id="{837C8ABD-8515-4176-AB98-9E8B9BA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670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Shows one next action, starts a focus session, and advances when a checklist item is completed.</a:t>
            </a:r>
          </a:p>
        </p:txBody>
      </p:sp>
      <p:sp>
        <p:nvSpPr>
          <p:cNvPr id="9" name="rule-58-310">
            <a:extLst xmlns:a="http://schemas.openxmlformats.org/drawingml/2006/main">
              <a:ext uri="{FF2B5EF4-FFF2-40B4-BE49-F238E27FC236}">
                <a16:creationId xmlns:a16="http://schemas.microsoft.com/office/drawing/2014/main" id="{2BD447D1-56AF-4F7C-A267-0B1CF3D4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aily-tag-1">
            <a:extLst xmlns:a="http://schemas.openxmlformats.org/drawingml/2006/main">
              <a:ext uri="{FF2B5EF4-FFF2-40B4-BE49-F238E27FC236}">
                <a16:creationId xmlns:a16="http://schemas.microsoft.com/office/drawing/2014/main" id="{5150FD79-84E1-4485-9488-611A1787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74"/>
                </a:solidFill>
              </a:defRPr>
            </a:pPr>
            <a:r>
              <a:rPr sz="900" b="1">
                <a:solidFill>
                  <a:srgbClr val="2F7D74"/>
                </a:solidFill>
              </a:rPr>
              <a:t>SCHEDULE</a:t>
            </a:r>
          </a:p>
        </p:txBody>
      </p:sp>
      <p:sp>
        <p:nvSpPr>
          <p:cNvPr id="11" name="daily-title-1">
            <a:extLst xmlns:a="http://schemas.openxmlformats.org/drawingml/2006/main">
              <a:ext uri="{FF2B5EF4-FFF2-40B4-BE49-F238E27FC236}">
                <a16:creationId xmlns:a16="http://schemas.microsoft.com/office/drawing/2014/main" id="{A9069B83-2697-4C36-9AC0-795F55E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C22"/>
                </a:solidFill>
              </a:defRPr>
            </a:pPr>
            <a:r>
              <a:rPr sz="1725" b="1">
                <a:solidFill>
                  <a:srgbClr val="141C22"/>
                </a:solidFill>
              </a:rPr>
              <a:t>Adaptive study plan</a:t>
            </a:r>
          </a:p>
        </p:txBody>
      </p:sp>
      <p:sp>
        <p:nvSpPr>
          <p:cNvPr id="12" name="daily-copy-1">
            <a:extLst xmlns:a="http://schemas.openxmlformats.org/drawingml/2006/main">
              <a:ext uri="{FF2B5EF4-FFF2-40B4-BE49-F238E27FC236}">
                <a16:creationId xmlns:a16="http://schemas.microsoft.com/office/drawing/2014/main" id="{3CA171E6-D644-4847-BF7B-6F835CC2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670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Creates calendar sessions from due dates and unfinished work, then replans after progress changes.</a:t>
            </a:r>
          </a:p>
        </p:txBody>
      </p:sp>
      <p:sp>
        <p:nvSpPr>
          <p:cNvPr id="13" name="rule-58-402">
            <a:extLst xmlns:a="http://schemas.openxmlformats.org/drawingml/2006/main">
              <a:ext uri="{FF2B5EF4-FFF2-40B4-BE49-F238E27FC236}">
                <a16:creationId xmlns:a16="http://schemas.microsoft.com/office/drawing/2014/main" id="{12978677-03E4-4B68-94FD-26B8892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aily-tag-2">
            <a:extLst xmlns:a="http://schemas.openxmlformats.org/drawingml/2006/main">
              <a:ext uri="{FF2B5EF4-FFF2-40B4-BE49-F238E27FC236}">
                <a16:creationId xmlns:a16="http://schemas.microsoft.com/office/drawing/2014/main" id="{3D4D4DE0-769C-46D3-9F5E-6C167B8D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862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5E16"/>
                </a:solidFill>
              </a:defRPr>
            </a:pPr>
            <a:r>
              <a:rPr sz="900" b="1">
                <a:solidFill>
                  <a:srgbClr val="725E16"/>
                </a:solidFill>
              </a:rPr>
              <a:t>FINAL CHECK</a:t>
            </a:r>
          </a:p>
        </p:txBody>
      </p:sp>
      <p:sp>
        <p:nvSpPr>
          <p:cNvPr id="15" name="daily-title-2">
            <a:extLst xmlns:a="http://schemas.openxmlformats.org/drawingml/2006/main">
              <a:ext uri="{FF2B5EF4-FFF2-40B4-BE49-F238E27FC236}">
                <a16:creationId xmlns:a16="http://schemas.microsoft.com/office/drawing/2014/main" id="{1500CB96-6A2E-4B0E-A363-B8952344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19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C22"/>
                </a:solidFill>
              </a:defRPr>
            </a:pPr>
            <a:r>
              <a:rPr sz="1725" b="1">
                <a:solidFill>
                  <a:srgbClr val="141C22"/>
                </a:solidFill>
              </a:rPr>
              <a:t>Submission readiness</a:t>
            </a:r>
          </a:p>
        </p:txBody>
      </p:sp>
      <p:sp>
        <p:nvSpPr>
          <p:cNvPr id="16" name="daily-copy-2">
            <a:extLst xmlns:a="http://schemas.openxmlformats.org/drawingml/2006/main">
              <a:ext uri="{FF2B5EF4-FFF2-40B4-BE49-F238E27FC236}">
                <a16:creationId xmlns:a16="http://schemas.microsoft.com/office/drawing/2014/main" id="{98B1E9F6-9A71-4DE8-8F1A-A87D831F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19550"/>
            <a:ext cx="670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Reads the uploaded file once, checks rubric coverage and deliverables, estimates a score range, and warns when AI-writing signals exceed 20%.</a:t>
            </a:r>
          </a:p>
        </p:txBody>
      </p:sp>
      <p:sp>
        <p:nvSpPr>
          <p:cNvPr id="17" name="rule-58-494">
            <a:extLst xmlns:a="http://schemas.openxmlformats.org/drawingml/2006/main">
              <a:ext uri="{FF2B5EF4-FFF2-40B4-BE49-F238E27FC236}">
                <a16:creationId xmlns:a16="http://schemas.microsoft.com/office/drawing/2014/main" id="{9B53DEDF-8A24-484B-BDC1-888FF423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aily-tag-3">
            <a:extLst xmlns:a="http://schemas.openxmlformats.org/drawingml/2006/main">
              <a:ext uri="{FF2B5EF4-FFF2-40B4-BE49-F238E27FC236}">
                <a16:creationId xmlns:a16="http://schemas.microsoft.com/office/drawing/2014/main" id="{B5E4310B-0BA4-4C07-9525-3448C18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74"/>
                </a:solidFill>
              </a:defRPr>
            </a:pPr>
            <a:r>
              <a:rPr sz="900" b="1">
                <a:solidFill>
                  <a:srgbClr val="2F7D74"/>
                </a:solidFill>
              </a:rPr>
              <a:t>CANVAS</a:t>
            </a:r>
          </a:p>
        </p:txBody>
      </p:sp>
      <p:sp>
        <p:nvSpPr>
          <p:cNvPr id="19" name="daily-title-3">
            <a:extLst xmlns:a="http://schemas.openxmlformats.org/drawingml/2006/main">
              <a:ext uri="{FF2B5EF4-FFF2-40B4-BE49-F238E27FC236}">
                <a16:creationId xmlns:a16="http://schemas.microsoft.com/office/drawing/2014/main" id="{A3BEB680-0E42-4FCD-8E23-D21F43EB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C22"/>
                </a:solidFill>
              </a:defRPr>
            </a:pPr>
            <a:r>
              <a:rPr sz="1725" b="1">
                <a:solidFill>
                  <a:srgbClr val="141C22"/>
                </a:solidFill>
              </a:rPr>
              <a:t>Keyless import</a:t>
            </a:r>
          </a:p>
        </p:txBody>
      </p:sp>
      <p:sp>
        <p:nvSpPr>
          <p:cNvPr id="20" name="daily-copy-3">
            <a:extLst xmlns:a="http://schemas.openxmlformats.org/drawingml/2006/main">
              <a:ext uri="{FF2B5EF4-FFF2-40B4-BE49-F238E27FC236}">
                <a16:creationId xmlns:a16="http://schemas.microsoft.com/office/drawing/2014/main" id="{8958CB10-3273-41E9-AF14-2DAA45B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95850"/>
            <a:ext cx="670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Imports deadlines through a Canvas calendar feed or captures the current Canvas page with the Companion. School OAuth remains optional.</a:t>
            </a:r>
          </a:p>
        </p:txBody>
      </p:sp>
      <p:sp>
        <p:nvSpPr>
          <p:cNvPr id="21" name="rule-58-586">
            <a:extLst xmlns:a="http://schemas.openxmlformats.org/drawingml/2006/main">
              <a:ext uri="{FF2B5EF4-FFF2-40B4-BE49-F238E27FC236}">
                <a16:creationId xmlns:a16="http://schemas.microsoft.com/office/drawing/2014/main" id="{438C2BA3-DF19-4FA7-A12C-A346F9A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nvas-boundary">
            <a:extLst xmlns:a="http://schemas.openxmlformats.org/drawingml/2006/main">
              <a:ext uri="{FF2B5EF4-FFF2-40B4-BE49-F238E27FC236}">
                <a16:creationId xmlns:a16="http://schemas.microsoft.com/office/drawing/2014/main" id="{6D3A10A9-A24A-4277-AAE7-50DD763E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0934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EDC"/>
          </a:solidFill>
          <a:ln xmlns:a="http://schemas.openxmlformats.org/drawingml/2006/main" w="9525">
            <a:solidFill>
              <a:srgbClr val="F2EEDC"/>
            </a:solidFill>
            <a:prstDash val="solid"/>
          </a:ln>
        </p:spPr>
      </p:sp>
      <p:sp>
        <p:nvSpPr>
          <p:cNvPr id="23" name="canvas-boundary-text">
            <a:extLst xmlns:a="http://schemas.openxmlformats.org/drawingml/2006/main">
              <a:ext uri="{FF2B5EF4-FFF2-40B4-BE49-F238E27FC236}">
                <a16:creationId xmlns:a16="http://schemas.microsoft.com/office/drawing/2014/main" id="{C8F5B0CE-27A4-4E1D-AA4A-89D2A165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5E16"/>
                </a:solidFill>
              </a:defRPr>
            </a:pPr>
            <a:r>
              <a:rPr sz="1125" b="1">
                <a:solidFill>
                  <a:srgbClr val="725E16"/>
                </a:solidFill>
              </a:rPr>
              <a:t>No Developer Key required: use the Canvas calendar feed or the click-to-capture Companion.</a:t>
            </a:r>
          </a:p>
        </p:txBody>
      </p:sp>
    </p:spTree>
    <p:extLst>
      <p:ext uri="{BB962C8B-B14F-4D97-AF65-F5344CB8AC3E}">
        <p14:creationId xmlns:p14="http://schemas.microsoft.com/office/powerpoint/2010/main" val="1025784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7">
            <a:extLst xmlns:a="http://schemas.openxmlformats.org/drawingml/2006/main">
              <a:ext uri="{FF2B5EF4-FFF2-40B4-BE49-F238E27FC236}">
                <a16:creationId xmlns:a16="http://schemas.microsoft.com/office/drawing/2014/main" id="{8315674E-89F8-4193-A1AA-F6DD782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SECURE ARCHITECTURE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59F77726-37BF-4381-A2DF-E1E4C7D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07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EF1170A8-C574-4A88-B5DF-A4AECFC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ve AI stays bounded to the selected work.">
            <a:extLst xmlns:a="http://schemas.openxmlformats.org/drawingml/2006/main">
              <a:ext uri="{FF2B5EF4-FFF2-40B4-BE49-F238E27FC236}">
                <a16:creationId xmlns:a16="http://schemas.microsoft.com/office/drawing/2014/main" id="{5F28C0FF-6A23-407D-9296-DB89BFF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Live AI stays bounded to the selected work.</a:t>
            </a:r>
          </a:p>
        </p:txBody>
      </p:sp>
      <p:sp>
        <p:nvSpPr>
          <p:cNvPr id="5" name="subtitle-Live AI stays bounded to the selected work.">
            <a:extLst xmlns:a="http://schemas.openxmlformats.org/drawingml/2006/main">
              <a:ext uri="{FF2B5EF4-FFF2-40B4-BE49-F238E27FC236}">
                <a16:creationId xmlns:a16="http://schemas.microsoft.com/office/drawing/2014/main" id="{2059F11D-7386-4DF3-B8AC-F14538CA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The browser sends only the selected context; the Worker validates it and returns a structured, evidence-grounded response.</a:t>
            </a:r>
          </a:p>
        </p:txBody>
      </p:sp>
      <p:sp>
        <p:nvSpPr>
          <p:cNvPr id="6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A1EA4E3D-58AC-4DDB-B0DF-27BF458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7" name="architecture-index-0">
            <a:extLst xmlns:a="http://schemas.openxmlformats.org/drawingml/2006/main">
              <a:ext uri="{FF2B5EF4-FFF2-40B4-BE49-F238E27FC236}">
                <a16:creationId xmlns:a16="http://schemas.microsoft.com/office/drawing/2014/main" id="{0B380102-5DE3-4919-8FDF-3E54F30D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01</a:t>
            </a:r>
          </a:p>
        </p:txBody>
      </p:sp>
      <p:sp>
        <p:nvSpPr>
          <p:cNvPr id="8" name="architecture-title-0">
            <a:extLst xmlns:a="http://schemas.openxmlformats.org/drawingml/2006/main">
              <a:ext uri="{FF2B5EF4-FFF2-40B4-BE49-F238E27FC236}">
                <a16:creationId xmlns:a16="http://schemas.microsoft.com/office/drawing/2014/main" id="{9F56E78F-EC8A-4FA8-9447-46BDFFA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Browser</a:t>
            </a:r>
          </a:p>
        </p:txBody>
      </p:sp>
      <p:sp>
        <p:nvSpPr>
          <p:cNvPr id="9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583C7794-ADAE-44FB-B4A0-2099879B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Local workspace and scoped conversation</a:t>
            </a:r>
          </a:p>
        </p:txBody>
      </p:sp>
      <p:sp>
        <p:nvSpPr>
          <p:cNvPr id="10" name="rule-298-378">
            <a:extLst xmlns:a="http://schemas.openxmlformats.org/drawingml/2006/main">
              <a:ext uri="{FF2B5EF4-FFF2-40B4-BE49-F238E27FC236}">
                <a16:creationId xmlns:a16="http://schemas.microsoft.com/office/drawing/2014/main" id="{74E3EFB4-922C-4C75-AD10-4AE892AC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00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DCA5FA50-14D8-4EE7-BF43-AC1EF2AB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242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9525">
            <a:solidFill>
              <a:srgbClr val="C9A63F"/>
            </a:solidFill>
            <a:prstDash val="solid"/>
          </a:ln>
        </p:spPr>
      </p:sp>
      <p:sp>
        <p:nvSpPr>
          <p:cNvPr id="12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8BB80893-39A5-4763-85D3-6608074C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3" name="architecture-index-1">
            <a:extLst xmlns:a="http://schemas.openxmlformats.org/drawingml/2006/main">
              <a:ext uri="{FF2B5EF4-FFF2-40B4-BE49-F238E27FC236}">
                <a16:creationId xmlns:a16="http://schemas.microsoft.com/office/drawing/2014/main" id="{895ABCB2-7F0B-470A-9E52-6BED1724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02</a:t>
            </a:r>
          </a:p>
        </p:txBody>
      </p:sp>
      <p:sp>
        <p:nvSpPr>
          <p:cNvPr id="14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E3089BB5-4F8D-4319-B7CD-E9F2EB0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Context builder</a:t>
            </a:r>
          </a:p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3BAB925-A343-4215-BC39-ABEEE411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86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Selected course, assignment, and sources</a:t>
            </a:r>
          </a:p>
        </p:txBody>
      </p:sp>
      <p:sp>
        <p:nvSpPr>
          <p:cNvPr id="16" name="rule-600-378">
            <a:extLst xmlns:a="http://schemas.openxmlformats.org/drawingml/2006/main">
              <a:ext uri="{FF2B5EF4-FFF2-40B4-BE49-F238E27FC236}">
                <a16:creationId xmlns:a16="http://schemas.microsoft.com/office/drawing/2014/main" id="{98141546-235B-4A16-B195-097FC696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97CD7A88-8A15-468A-AEAA-CEC767A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9525">
            <a:solidFill>
              <a:srgbClr val="C9A63F"/>
            </a:solidFill>
            <a:prstDash val="solid"/>
          </a:ln>
        </p:spPr>
      </p:sp>
      <p:sp>
        <p:nvSpPr>
          <p:cNvPr id="18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4A471F4F-6C61-456B-98F2-4CA6797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141C22"/>
          </a:solidFill>
          <a:ln xmlns:a="http://schemas.openxmlformats.org/drawingml/2006/main" w="9525">
            <a:solidFill>
              <a:srgbClr val="141C22"/>
            </a:solidFill>
            <a:prstDash val="solid"/>
          </a:ln>
        </p:spPr>
      </p:sp>
      <p:sp>
        <p:nvSpPr>
          <p:cNvPr id="19" name="architecture-index-2">
            <a:extLst xmlns:a="http://schemas.openxmlformats.org/drawingml/2006/main">
              <a:ext uri="{FF2B5EF4-FFF2-40B4-BE49-F238E27FC236}">
                <a16:creationId xmlns:a16="http://schemas.microsoft.com/office/drawing/2014/main" id="{BBAF524F-7D58-4A56-9E11-E09C6500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A63F"/>
                </a:solidFill>
              </a:defRPr>
            </a:pPr>
            <a:r>
              <a:rPr sz="975" b="1">
                <a:solidFill>
                  <a:srgbClr val="C9A63F"/>
                </a:solidFill>
              </a:rPr>
              <a:t>03</a:t>
            </a:r>
          </a:p>
        </p:txBody>
      </p:sp>
      <p:sp>
        <p:nvSpPr>
          <p:cNvPr id="20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1AE58874-010F-41E8-8BDF-9C7177AE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Cloudflare Worker</a:t>
            </a:r>
          </a:p>
        </p:txBody>
      </p:sp>
      <p:sp>
        <p:nvSpPr>
          <p:cNvPr id="21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8F5AB91-51AF-43C9-9A78-F6212D1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2D5"/>
                </a:solidFill>
              </a:defRPr>
            </a:pPr>
            <a:r>
              <a:rPr sz="1200" b="0">
                <a:solidFill>
                  <a:srgbClr val="CBD2D5"/>
                </a:solidFill>
              </a:rPr>
              <a:t>CORS, size limits, rate limits, validation</a:t>
            </a:r>
          </a:p>
        </p:txBody>
      </p:sp>
      <p:sp>
        <p:nvSpPr>
          <p:cNvPr id="22" name="rule-902-378">
            <a:extLst xmlns:a="http://schemas.openxmlformats.org/drawingml/2006/main">
              <a:ext uri="{FF2B5EF4-FFF2-40B4-BE49-F238E27FC236}">
                <a16:creationId xmlns:a16="http://schemas.microsoft.com/office/drawing/2014/main" id="{4C2366E1-888C-4274-8EEC-F062320E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F424522D-01AF-4EEE-9BC2-E2EE066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242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A63F"/>
          </a:solidFill>
          <a:ln xmlns:a="http://schemas.openxmlformats.org/drawingml/2006/main" w="9525">
            <a:solidFill>
              <a:srgbClr val="C9A63F"/>
            </a:solidFill>
            <a:prstDash val="solid"/>
          </a:ln>
        </p:spPr>
      </p:sp>
      <p:sp>
        <p:nvSpPr>
          <p:cNvPr id="24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D615ABD1-D416-4A5D-A141-0F92FCC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3241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25" name="architecture-index-3">
            <a:extLst xmlns:a="http://schemas.openxmlformats.org/drawingml/2006/main">
              <a:ext uri="{FF2B5EF4-FFF2-40B4-BE49-F238E27FC236}">
                <a16:creationId xmlns:a16="http://schemas.microsoft.com/office/drawing/2014/main" id="{671584D3-F256-4071-9FC3-7F2EB67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04</a:t>
            </a:r>
          </a:p>
        </p:txBody>
      </p:sp>
      <p:sp>
        <p:nvSpPr>
          <p:cNvPr id="26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7B0C7905-3C9B-414A-9DAC-0736F62C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2"/>
                </a:solidFill>
              </a:defRPr>
            </a:pPr>
            <a:r>
              <a:rPr sz="1650" b="1">
                <a:solidFill>
                  <a:srgbClr val="141C22"/>
                </a:solidFill>
              </a:rPr>
              <a:t>Workers AI</a:t>
            </a:r>
          </a:p>
        </p:txBody>
      </p:sp>
      <p:sp>
        <p:nvSpPr>
          <p:cNvPr id="27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50B4877D-079A-4789-88E8-7DCD833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8"/>
                </a:solidFill>
              </a:defRPr>
            </a:pPr>
            <a:r>
              <a:rPr sz="1200" b="0">
                <a:solidFill>
                  <a:srgbClr val="647078"/>
                </a:solidFill>
              </a:rPr>
              <a:t>Live answer, citations, one next step</a:t>
            </a:r>
          </a:p>
        </p:txBody>
      </p:sp>
      <p:sp>
        <p:nvSpPr>
          <p:cNvPr id="28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EA06B4E2-A24C-46CA-89CC-41BA0EF8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8"/>
                </a:solidFill>
              </a:defRPr>
            </a:pPr>
            <a:r>
              <a:rPr sz="1350" b="0">
                <a:solidFill>
                  <a:srgbClr val="647078"/>
                </a:solidFill>
              </a:rPr>
              <a:t>No secret is stored in client code. Invalid citations are removed, malformed model output is repaired, and complete assessed submissions are redirected into student-owned reasoning.</a:t>
            </a:r>
          </a:p>
        </p:txBody>
      </p:sp>
    </p:spTree>
    <p:extLst>
      <p:ext uri="{BB962C8B-B14F-4D97-AF65-F5344CB8AC3E}">
        <p14:creationId xmlns:p14="http://schemas.microsoft.com/office/powerpoint/2010/main" val="672966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8">
            <a:extLst xmlns:a="http://schemas.openxmlformats.org/drawingml/2006/main">
              <a:ext uri="{FF2B5EF4-FFF2-40B4-BE49-F238E27FC236}">
                <a16:creationId xmlns:a16="http://schemas.microsoft.com/office/drawing/2014/main" id="{71B3A6E5-7BAC-4E6D-B7B8-D2FA51A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D74"/>
                </a:solidFill>
              </a:defRPr>
            </a:pPr>
            <a:r>
              <a:rPr sz="975" b="1">
                <a:solidFill>
                  <a:srgbClr val="2F7D74"/>
                </a:solidFill>
              </a:rPr>
              <a:t>VALIDATION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B1C57CAA-6DFB-4E61-8452-8F5B894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08</a:t>
            </a:r>
          </a:p>
        </p:txBody>
      </p:sp>
      <p:sp>
        <p:nvSpPr>
          <p:cNvPr id="3" name="rule-48-66">
            <a:extLst xmlns:a="http://schemas.openxmlformats.org/drawingml/2006/main">
              <a:ext uri="{FF2B5EF4-FFF2-40B4-BE49-F238E27FC236}">
                <a16:creationId xmlns:a16="http://schemas.microsoft.com/office/drawing/2014/main" id="{7C508C06-EF27-4B57-AB0F-B61B554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The complete workflow is tested, not staged.">
            <a:extLst xmlns:a="http://schemas.openxmlformats.org/drawingml/2006/main">
              <a:ext uri="{FF2B5EF4-FFF2-40B4-BE49-F238E27FC236}">
                <a16:creationId xmlns:a16="http://schemas.microsoft.com/office/drawing/2014/main" id="{D0E73F49-5097-41B0-B876-4C1F51F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The complete workflow is tested, not staged.</a:t>
            </a:r>
          </a:p>
        </p:txBody>
      </p:sp>
      <p:sp>
        <p:nvSpPr>
          <p:cNvPr id="5" name="subtitle-The complete workflow is tested, not staged.">
            <a:extLst xmlns:a="http://schemas.openxmlformats.org/drawingml/2006/main">
              <a:ext uri="{FF2B5EF4-FFF2-40B4-BE49-F238E27FC236}">
                <a16:creationId xmlns:a16="http://schemas.microsoft.com/office/drawing/2014/main" id="{3F8379D5-9315-4A26-B438-C0DEE9C5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78"/>
                </a:solidFill>
              </a:defRPr>
            </a:pPr>
            <a:r>
              <a:rPr sz="1500" b="0">
                <a:solidFill>
                  <a:srgbClr val="647078"/>
                </a:solidFill>
              </a:rPr>
              <a:t>Automated contracts and live browser QA cover import, planning, submission checks, Canvas boundaries, and multi-turn Coach behavior.</a:t>
            </a:r>
          </a:p>
        </p:txBody>
      </p:sp>
      <p:sp>
        <p:nvSpPr>
          <p:cNvPr id="6" name="stat-0">
            <a:extLst xmlns:a="http://schemas.openxmlformats.org/drawingml/2006/main">
              <a:ext uri="{FF2B5EF4-FFF2-40B4-BE49-F238E27FC236}">
                <a16:creationId xmlns:a16="http://schemas.microsoft.com/office/drawing/2014/main" id="{635D6D1D-4870-4DEB-8C76-A69DD77F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CE8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7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7BABFBD6-5CDC-443A-B9C3-F11D4D5C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7D74"/>
                </a:solidFill>
              </a:defRPr>
            </a:pPr>
            <a:r>
              <a:rPr sz="3225" b="1">
                <a:solidFill>
                  <a:srgbClr val="2F7D74"/>
                </a:solidFill>
              </a:rPr>
              <a:t>365</a:t>
            </a:r>
          </a:p>
        </p:txBody>
      </p:sp>
      <p:sp>
        <p:nvSpPr>
          <p:cNvPr id="8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B9C345DE-0190-4026-AD6C-ACAC018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automated tests passing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32A9A9D9-A5F7-40ED-83C6-83DC2740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146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0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BD01141-C19A-45C9-8B27-1107AAF4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670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0</a:t>
            </a:r>
          </a:p>
        </p:txBody>
      </p:sp>
      <p:sp>
        <p:nvSpPr>
          <p:cNvPr id="11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1CCCF22-8891-4427-9380-285EA4B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browser console errors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1EE4C8CD-96F7-488A-A1A0-C4BB5569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1504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CA"/>
            </a:solidFill>
            <a:prstDash val="solid"/>
          </a:ln>
        </p:spPr>
      </p:sp>
      <p:sp>
        <p:nvSpPr>
          <p:cNvPr id="13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9C944DEB-9EFA-4BAF-A23E-025FC7E2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C22"/>
                </a:solidFill>
              </a:defRPr>
            </a:pPr>
            <a:r>
              <a:rPr sz="3225" b="1">
                <a:solidFill>
                  <a:srgbClr val="141C22"/>
                </a:solidFill>
              </a:rPr>
              <a:t>390</a:t>
            </a:r>
          </a:p>
        </p:txBody>
      </p:sp>
      <p:sp>
        <p:nvSpPr>
          <p:cNvPr id="14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643DA8E6-1FCC-4113-9AD4-1EB4C2F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78"/>
                </a:solidFill>
              </a:defRPr>
            </a:pPr>
            <a:r>
              <a:rPr sz="975" b="1">
                <a:solidFill>
                  <a:srgbClr val="647078"/>
                </a:solidFill>
              </a:rPr>
              <a:t>px mobile width verified</a:t>
            </a:r>
          </a:p>
        </p:txBody>
      </p:sp>
      <p:sp>
        <p:nvSpPr>
          <p:cNvPr id="15" name="validation-list">
            <a:extLst xmlns:a="http://schemas.openxmlformats.org/drawingml/2006/main">
              <a:ext uri="{FF2B5EF4-FFF2-40B4-BE49-F238E27FC236}">
                <a16:creationId xmlns:a16="http://schemas.microsoft.com/office/drawing/2014/main" id="{43103C09-0CA6-4211-9F65-23A6558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905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VERIFIED 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Screenshots and documents -&gt; exact course and assignment facts</a:t>
            </a:r>
          </a:p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Course-bound upload -&gt; no duplicate course split</a:t>
            </a:r>
          </a:p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Today and scheduler -&gt; next action and replanning</a:t>
            </a:r>
          </a:p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Final check -&gt; rubric coverage, score range, AI-writing reminder</a:t>
            </a:r>
          </a:p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Coach -&gt; start, advance, stuck support, and authorship protection</a:t>
            </a:r>
          </a:p>
        </p:txBody>
      </p:sp>
      <p:sp>
        <p:nvSpPr>
          <p:cNvPr id="16" name="mobile-frame">
            <a:extLst xmlns:a="http://schemas.openxmlformats.org/drawingml/2006/main">
              <a:ext uri="{FF2B5EF4-FFF2-40B4-BE49-F238E27FC236}">
                <a16:creationId xmlns:a16="http://schemas.microsoft.com/office/drawing/2014/main" id="{2583CC95-0AE3-4989-B474-2808F0B3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2781300" cy="43243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41C22"/>
          </a:solidFill>
          <a:ln xmlns:a="http://schemas.openxmlformats.org/drawingml/2006/main" w="9525">
            <a:solidFill>
              <a:srgbClr val="141C22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03dad87fc4bb9"/>
          <a:srcRect xmlns:a="http://schemas.openxmlformats.org/drawingml/2006/main" l="0" t="12718" r="0" b="12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1900" y="2305050"/>
            <a:ext cx="2514600" cy="4057650"/>
          </a:xfrm>
          <a:prstGeom xmlns:a="http://schemas.openxmlformats.org/drawingml/2006/main" prst="roundRect">
            <a:avLst>
              <a:gd name="adj" fmla="val 2652"/>
            </a:avLst>
          </a:prstGeom>
        </p:spPr>
      </p:pic>
      <p:sp>
        <p:nvSpPr>
          <p:cNvPr id="18" name="label-Mobile QA-1090">
            <a:extLst xmlns:a="http://schemas.openxmlformats.org/drawingml/2006/main">
              <a:ext uri="{FF2B5EF4-FFF2-40B4-BE49-F238E27FC236}">
                <a16:creationId xmlns:a16="http://schemas.microsoft.com/office/drawing/2014/main" id="{BA9F4130-48BF-4A85-87C9-35F845C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717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EDC"/>
          </a:solidFill>
          <a:ln xmlns:a="http://schemas.openxmlformats.org/drawingml/2006/main" w="9525">
            <a:solidFill>
              <a:srgbClr val="F2EED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25E16"/>
                </a:solidFill>
              </a:defRPr>
            </a:pPr>
            <a:r>
              <a:rPr sz="900" b="1">
                <a:solidFill>
                  <a:srgbClr val="725E16"/>
                </a:solidFill>
              </a:rPr>
              <a:t>MOBILE QA</a:t>
            </a:r>
          </a:p>
        </p:txBody>
      </p:sp>
      <p:sp>
        <p:nvSpPr>
          <p:cNvPr id="19" name="mobile-callout">
            <a:extLst xmlns:a="http://schemas.openxmlformats.org/drawingml/2006/main">
              <a:ext uri="{FF2B5EF4-FFF2-40B4-BE49-F238E27FC236}">
                <a16:creationId xmlns:a16="http://schemas.microsoft.com/office/drawing/2014/main" id="{8500F3CF-6E77-48D3-AF1F-0E2D55B3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67050"/>
            <a:ext cx="1276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8"/>
                </a:solidFill>
              </a:defRPr>
            </a:pPr>
            <a:r>
              <a:rPr sz="1275" b="0">
                <a:solidFill>
                  <a:srgbClr val="647078"/>
                </a:solidFill>
              </a:rPr>
              <a:t>No horizontal overflow at 390 x 844. The current step and all three feedback actions remain usable.</a:t>
            </a:r>
          </a:p>
        </p:txBody>
      </p:sp>
    </p:spTree>
    <p:extLst>
      <p:ext uri="{BB962C8B-B14F-4D97-AF65-F5344CB8AC3E}">
        <p14:creationId xmlns:p14="http://schemas.microsoft.com/office/powerpoint/2010/main" val="1763832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55EC7C1E-DD68-4410-AAF4-5FBF54C4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63F"/>
                </a:solidFill>
              </a:defRPr>
            </a:pPr>
            <a:r>
              <a:rPr sz="1050" b="1">
                <a:solidFill>
                  <a:srgbClr val="C9A63F"/>
                </a:solidFill>
              </a:rPr>
              <a:t>CLASS PILOT AI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B874115-8008-44E9-9C2D-3C293BD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76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One course.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One clear plan.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One Coach that remembers.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A47E72D2-4FB8-4897-A01E-53E44C3D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1D4"/>
                </a:solidFill>
              </a:defRPr>
            </a:pPr>
            <a:r>
              <a:rPr sz="1650" b="0">
                <a:solidFill>
                  <a:srgbClr val="CAD1D4"/>
                </a:solidFill>
              </a:rPr>
              <a:t>A live, evidence-grounded academic workspace designed around the student's actual course materials and next action.</a:t>
            </a:r>
          </a:p>
        </p:txBody>
      </p:sp>
      <p:sp>
        <p:nvSpPr>
          <p:cNvPr id="4" name="close-link">
            <a:extLst xmlns:a="http://schemas.openxmlformats.org/drawingml/2006/main">
              <a:ext uri="{FF2B5EF4-FFF2-40B4-BE49-F238E27FC236}">
                <a16:creationId xmlns:a16="http://schemas.microsoft.com/office/drawing/2014/main" id="{C0B08B47-883C-4DB9-91A6-6C84538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524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F7D74"/>
          </a:solidFill>
          <a:ln xmlns:a="http://schemas.openxmlformats.org/drawingml/2006/main" w="9525">
            <a:solidFill>
              <a:srgbClr val="2F7D74"/>
            </a:solidFill>
            <a:prstDash val="solid"/>
          </a:ln>
        </p:spPr>
      </p:sp>
      <p:sp>
        <p:nvSpPr>
          <p:cNvPr id="5" name="close-link-label">
            <a:extLst xmlns:a="http://schemas.openxmlformats.org/drawingml/2006/main">
              <a:ext uri="{FF2B5EF4-FFF2-40B4-BE49-F238E27FC236}">
                <a16:creationId xmlns:a16="http://schemas.microsoft.com/office/drawing/2014/main" id="{5B4946F7-D499-4F9A-8FC5-EB880CA9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EEDC"/>
                </a:solidFill>
              </a:defRPr>
            </a:pPr>
            <a:r>
              <a:rPr sz="975" b="1">
                <a:solidFill>
                  <a:srgbClr val="F2EEDC"/>
                </a:solidFill>
              </a:rPr>
              <a:t>LIVE PRODUCT</a:t>
            </a:r>
          </a:p>
        </p:txBody>
      </p:sp>
      <p:sp>
        <p:nvSpPr>
          <p:cNvPr id="6" name="close-link-url">
            <a:extLst xmlns:a="http://schemas.openxmlformats.org/drawingml/2006/main">
              <a:ext uri="{FF2B5EF4-FFF2-40B4-BE49-F238E27FC236}">
                <a16:creationId xmlns:a16="http://schemas.microsoft.com/office/drawing/2014/main" id="{AA3BF4E4-8B60-4F0F-942B-9AD073F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cngei2.github.io/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classpilot-ai-website/</a:t>
            </a:r>
          </a:p>
        </p:txBody>
      </p:sp>
      <p:sp>
        <p:nvSpPr>
          <p:cNvPr id="7" name="close-note">
            <a:extLst xmlns:a="http://schemas.openxmlformats.org/drawingml/2006/main">
              <a:ext uri="{FF2B5EF4-FFF2-40B4-BE49-F238E27FC236}">
                <a16:creationId xmlns:a16="http://schemas.microsoft.com/office/drawing/2014/main" id="{9ECB1B40-74E9-4ECF-9747-87BDBB31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352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1D4"/>
                </a:solidFill>
              </a:defRPr>
            </a:pPr>
            <a:r>
              <a:rPr sz="1275" b="0">
                <a:solidFill>
                  <a:srgbClr val="CAD1D4"/>
                </a:solidFill>
              </a:rPr>
              <a:t>The public product now includes live multi-turn AI, evidence citations, planning, final checks, and responsive mobile support.</a:t>
            </a:r>
          </a:p>
        </p:txBody>
      </p:sp>
    </p:spTree>
    <p:extLst>
      <p:ext uri="{BB962C8B-B14F-4D97-AF65-F5344CB8AC3E}">
        <p14:creationId xmlns:p14="http://schemas.microsoft.com/office/powerpoint/2010/main" val="2060588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2026-07-27T20:42:12.5570000Z</dcterms:created>
  <dcterms:modified xsi:type="dcterms:W3CDTF">2026-07-27T20:42:12.5570000Z</dcterms:modified>
</coreProperties>
</file>